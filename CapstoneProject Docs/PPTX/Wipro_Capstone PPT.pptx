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  <p:embeddedFont>
      <p:font typeface="Arial Bold" charset="1" panose="020B0704020202020204"/>
      <p:regular r:id="rId22"/>
    </p:embeddedFont>
    <p:embeddedFont>
      <p:font typeface="Calibri (MS) Italics" charset="1" panose="020F05020202040A0204"/>
      <p:regular r:id="rId24"/>
    </p:embeddedFont>
    <p:embeddedFont>
      <p:font typeface="Public Sans 1 Bold" charset="1" panose="00000000000000000000"/>
      <p:regular r:id="rId25"/>
    </p:embeddedFont>
    <p:embeddedFont>
      <p:font typeface="Public Sans 1" charset="1" panose="00000000000000000000"/>
      <p:regular r:id="rId26"/>
    </p:embeddedFont>
    <p:embeddedFont>
      <p:font typeface="Public Sans 2 Bold" charset="1" panose="00000000000000000000"/>
      <p:regular r:id="rId31"/>
    </p:embeddedFont>
    <p:embeddedFont>
      <p:font typeface="Public Sans 2" charset="1" panose="00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7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8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9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0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1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821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714983" y="444503"/>
            <a:ext cx="244859" cy="244859"/>
            <a:chOff x="0" y="0"/>
            <a:chExt cx="326479" cy="3264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227047" y="444503"/>
            <a:ext cx="244859" cy="244859"/>
            <a:chOff x="0" y="0"/>
            <a:chExt cx="326479" cy="3264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739111" y="444503"/>
            <a:ext cx="244859" cy="244859"/>
            <a:chOff x="0" y="0"/>
            <a:chExt cx="326479" cy="326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7251175" y="444503"/>
            <a:ext cx="244859" cy="244859"/>
            <a:chOff x="0" y="0"/>
            <a:chExt cx="326479" cy="3264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714983" y="956567"/>
            <a:ext cx="244859" cy="244859"/>
            <a:chOff x="0" y="0"/>
            <a:chExt cx="326479" cy="3264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6227047" y="956567"/>
            <a:ext cx="244859" cy="244859"/>
            <a:chOff x="0" y="0"/>
            <a:chExt cx="326479" cy="3264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739111" y="956567"/>
            <a:ext cx="244859" cy="244859"/>
            <a:chOff x="0" y="0"/>
            <a:chExt cx="326479" cy="3264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7251175" y="956567"/>
            <a:ext cx="244859" cy="244859"/>
            <a:chOff x="0" y="0"/>
            <a:chExt cx="326479" cy="32647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5714983" y="1468631"/>
            <a:ext cx="244859" cy="244859"/>
            <a:chOff x="0" y="0"/>
            <a:chExt cx="326479" cy="3264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6227047" y="1468631"/>
            <a:ext cx="244859" cy="244859"/>
            <a:chOff x="0" y="0"/>
            <a:chExt cx="326479" cy="3264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6739111" y="1468631"/>
            <a:ext cx="244859" cy="244859"/>
            <a:chOff x="0" y="0"/>
            <a:chExt cx="326479" cy="3264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7251175" y="1468631"/>
            <a:ext cx="244859" cy="244859"/>
            <a:chOff x="0" y="0"/>
            <a:chExt cx="326479" cy="3264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5714983" y="1980695"/>
            <a:ext cx="244859" cy="244859"/>
            <a:chOff x="0" y="0"/>
            <a:chExt cx="326479" cy="3264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6227047" y="1980695"/>
            <a:ext cx="244859" cy="244859"/>
            <a:chOff x="0" y="0"/>
            <a:chExt cx="326479" cy="32647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6739111" y="1980695"/>
            <a:ext cx="244859" cy="244859"/>
            <a:chOff x="0" y="0"/>
            <a:chExt cx="326479" cy="32647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7251175" y="1980695"/>
            <a:ext cx="244859" cy="244859"/>
            <a:chOff x="0" y="0"/>
            <a:chExt cx="326479" cy="32647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93143" y="1084583"/>
            <a:ext cx="3317243" cy="720347"/>
            <a:chOff x="0" y="0"/>
            <a:chExt cx="4422991" cy="96046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423029" cy="960501"/>
            </a:xfrm>
            <a:custGeom>
              <a:avLst/>
              <a:gdLst/>
              <a:ahLst/>
              <a:cxnLst/>
              <a:rect r="r" b="b" t="t" l="l"/>
              <a:pathLst>
                <a:path h="960501" w="4423029">
                  <a:moveTo>
                    <a:pt x="0" y="202184"/>
                  </a:moveTo>
                  <a:cubicBezTo>
                    <a:pt x="0" y="90551"/>
                    <a:pt x="90551" y="0"/>
                    <a:pt x="202184" y="0"/>
                  </a:cubicBezTo>
                  <a:lnTo>
                    <a:pt x="4220845" y="0"/>
                  </a:lnTo>
                  <a:cubicBezTo>
                    <a:pt x="4332478" y="0"/>
                    <a:pt x="4423029" y="90551"/>
                    <a:pt x="4423029" y="202184"/>
                  </a:cubicBezTo>
                  <a:lnTo>
                    <a:pt x="4423029" y="758317"/>
                  </a:lnTo>
                  <a:cubicBezTo>
                    <a:pt x="4423029" y="869950"/>
                    <a:pt x="4332478" y="960501"/>
                    <a:pt x="4220845" y="960501"/>
                  </a:cubicBezTo>
                  <a:lnTo>
                    <a:pt x="202184" y="960501"/>
                  </a:lnTo>
                  <a:cubicBezTo>
                    <a:pt x="90551" y="960501"/>
                    <a:pt x="0" y="869950"/>
                    <a:pt x="0" y="758317"/>
                  </a:cubicBezTo>
                  <a:close/>
                </a:path>
              </a:pathLst>
            </a:custGeom>
            <a:solidFill>
              <a:srgbClr val="FFF7ED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05840" y="1097280"/>
            <a:ext cx="3291840" cy="694944"/>
            <a:chOff x="0" y="0"/>
            <a:chExt cx="4389120" cy="9265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4389120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✈  TRAVEL &amp; BOOKING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2194560"/>
            <a:ext cx="16642080" cy="1828800"/>
            <a:chOff x="0" y="0"/>
            <a:chExt cx="22189440" cy="2438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18943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313" r="0" b="-12731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57175"/>
              <a:ext cx="22189440" cy="2695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60"/>
                </a:lnSpc>
              </a:pPr>
              <a:r>
                <a:rPr lang="en-US" b="true" sz="12800" spc="160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IXIGO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3931920"/>
            <a:ext cx="16642080" cy="914400"/>
            <a:chOff x="0" y="0"/>
            <a:chExt cx="2218944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189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221894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 Testing — Wipro Capstone Project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03910" y="5010150"/>
            <a:ext cx="10096500" cy="38100"/>
            <a:chOff x="0" y="0"/>
            <a:chExt cx="13462000" cy="50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462000" cy="50800"/>
            </a:xfrm>
            <a:custGeom>
              <a:avLst/>
              <a:gdLst/>
              <a:ahLst/>
              <a:cxnLst/>
              <a:rect r="r" b="b" t="t" l="l"/>
              <a:pathLst>
                <a:path h="50800" w="13462000">
                  <a:moveTo>
                    <a:pt x="0" y="0"/>
                  </a:moveTo>
                  <a:lnTo>
                    <a:pt x="1346200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5113535" r="0" b="-5113535"/>
              </a:stretch>
            </a:blipFill>
            <a:ln w="381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822960" y="5394960"/>
            <a:ext cx="16642080" cy="548640"/>
            <a:chOff x="0" y="0"/>
            <a:chExt cx="2218944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189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0" b="-54104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18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MEMBERS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10263" y="6113783"/>
            <a:ext cx="5237483" cy="903227"/>
            <a:chOff x="0" y="0"/>
            <a:chExt cx="6983311" cy="120430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983349" cy="1204341"/>
            </a:xfrm>
            <a:custGeom>
              <a:avLst/>
              <a:gdLst/>
              <a:ahLst/>
              <a:cxnLst/>
              <a:rect r="r" b="b" t="t" l="l"/>
              <a:pathLst>
                <a:path h="1204341" w="6983349">
                  <a:moveTo>
                    <a:pt x="0" y="0"/>
                  </a:moveTo>
                  <a:lnTo>
                    <a:pt x="6983349" y="0"/>
                  </a:lnTo>
                  <a:lnTo>
                    <a:pt x="698334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F9FAF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005840" y="6126480"/>
            <a:ext cx="4846320" cy="877824"/>
            <a:chOff x="0" y="0"/>
            <a:chExt cx="6461760" cy="117043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4617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646176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 Telukuntla Sindhu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479543" y="6113783"/>
            <a:ext cx="5237483" cy="903227"/>
            <a:chOff x="0" y="0"/>
            <a:chExt cx="6983311" cy="120430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983349" cy="1204341"/>
            </a:xfrm>
            <a:custGeom>
              <a:avLst/>
              <a:gdLst/>
              <a:ahLst/>
              <a:cxnLst/>
              <a:rect r="r" b="b" t="t" l="l"/>
              <a:pathLst>
                <a:path h="1204341" w="6983349">
                  <a:moveTo>
                    <a:pt x="0" y="0"/>
                  </a:moveTo>
                  <a:lnTo>
                    <a:pt x="6983349" y="0"/>
                  </a:lnTo>
                  <a:lnTo>
                    <a:pt x="698334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F9FAF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6675120" y="6126480"/>
            <a:ext cx="4846320" cy="877824"/>
            <a:chOff x="0" y="0"/>
            <a:chExt cx="6461760" cy="117043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4617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646176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 Hariharan M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148823" y="6113783"/>
            <a:ext cx="5237483" cy="903227"/>
            <a:chOff x="0" y="0"/>
            <a:chExt cx="6983311" cy="12043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983349" cy="1204341"/>
            </a:xfrm>
            <a:custGeom>
              <a:avLst/>
              <a:gdLst/>
              <a:ahLst/>
              <a:cxnLst/>
              <a:rect r="r" b="b" t="t" l="l"/>
              <a:pathLst>
                <a:path h="1204341" w="6983349">
                  <a:moveTo>
                    <a:pt x="0" y="0"/>
                  </a:moveTo>
                  <a:lnTo>
                    <a:pt x="6983349" y="0"/>
                  </a:lnTo>
                  <a:lnTo>
                    <a:pt x="698334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F9FAF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344400" y="6126480"/>
            <a:ext cx="4846320" cy="877824"/>
            <a:chOff x="0" y="0"/>
            <a:chExt cx="6461760" cy="117043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4617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646176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 Punya Pratiksha Sahoo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10263" y="7302503"/>
            <a:ext cx="5237483" cy="903227"/>
            <a:chOff x="0" y="0"/>
            <a:chExt cx="6983311" cy="120430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983349" cy="1204341"/>
            </a:xfrm>
            <a:custGeom>
              <a:avLst/>
              <a:gdLst/>
              <a:ahLst/>
              <a:cxnLst/>
              <a:rect r="r" b="b" t="t" l="l"/>
              <a:pathLst>
                <a:path h="1204341" w="6983349">
                  <a:moveTo>
                    <a:pt x="0" y="0"/>
                  </a:moveTo>
                  <a:lnTo>
                    <a:pt x="6983349" y="0"/>
                  </a:lnTo>
                  <a:lnTo>
                    <a:pt x="698334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F9FAF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005840" y="7315200"/>
            <a:ext cx="4846320" cy="877824"/>
            <a:chOff x="0" y="0"/>
            <a:chExt cx="6461760" cy="117043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4617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646176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 Himanshu Gupta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479543" y="7302503"/>
            <a:ext cx="5237483" cy="903227"/>
            <a:chOff x="0" y="0"/>
            <a:chExt cx="6983311" cy="120430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983349" cy="1204341"/>
            </a:xfrm>
            <a:custGeom>
              <a:avLst/>
              <a:gdLst/>
              <a:ahLst/>
              <a:cxnLst/>
              <a:rect r="r" b="b" t="t" l="l"/>
              <a:pathLst>
                <a:path h="1204341" w="6983349">
                  <a:moveTo>
                    <a:pt x="0" y="0"/>
                  </a:moveTo>
                  <a:lnTo>
                    <a:pt x="6983349" y="0"/>
                  </a:lnTo>
                  <a:lnTo>
                    <a:pt x="698334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F9FAF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6675120" y="7315200"/>
            <a:ext cx="4846320" cy="877824"/>
            <a:chOff x="0" y="0"/>
            <a:chExt cx="6461760" cy="117043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4617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646176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  Trisha Nandi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148823" y="7302503"/>
            <a:ext cx="5237483" cy="903227"/>
            <a:chOff x="0" y="0"/>
            <a:chExt cx="6983311" cy="120430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983349" cy="1204341"/>
            </a:xfrm>
            <a:custGeom>
              <a:avLst/>
              <a:gdLst/>
              <a:ahLst/>
              <a:cxnLst/>
              <a:rect r="r" b="b" t="t" l="l"/>
              <a:pathLst>
                <a:path h="1204341" w="6983349">
                  <a:moveTo>
                    <a:pt x="0" y="0"/>
                  </a:moveTo>
                  <a:lnTo>
                    <a:pt x="6983349" y="0"/>
                  </a:lnTo>
                  <a:lnTo>
                    <a:pt x="698334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F9FAF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2344400" y="7315200"/>
            <a:ext cx="4846320" cy="877824"/>
            <a:chOff x="0" y="0"/>
            <a:chExt cx="6461760" cy="117043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4617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57150"/>
              <a:ext cx="646176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6.  Pramithi Pal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22960" y="9509760"/>
            <a:ext cx="16642080" cy="512064"/>
            <a:chOff x="0" y="0"/>
            <a:chExt cx="22189440" cy="6827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22189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Wipro  |  Domain: Travel &amp; Booking  |  Platform: Ixigo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8981"/>
            </a:xfrm>
            <a:custGeom>
              <a:avLst/>
              <a:gdLst/>
              <a:ahLst/>
              <a:cxnLst/>
              <a:rect r="r" b="b" t="t" l="l"/>
              <a:pathLst>
                <a:path h="22898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FF6B2B"/>
            </a:solidFill>
            <a:ln w="25400" cap="sq">
              <a:solidFill>
                <a:srgbClr val="FF6B2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84637"/>
            <a:ext cx="12801600" cy="731520"/>
            <a:chOff x="0" y="0"/>
            <a:chExt cx="17068800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068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706880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A23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&amp; Module Overview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14400" y="1554480"/>
          <a:ext cx="16408400" cy="6578600"/>
        </p:xfrm>
        <a:graphic>
          <a:graphicData uri="http://schemas.openxmlformats.org/drawingml/2006/table">
            <a:tbl>
              <a:tblPr/>
              <a:tblGrid>
                <a:gridCol w="748806"/>
                <a:gridCol w="3100760"/>
                <a:gridCol w="4548117"/>
                <a:gridCol w="5452715"/>
                <a:gridCol w="2558002"/>
              </a:tblGrid>
              <a:tr h="939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#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Member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Module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Framework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Tests /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374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D374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Telukuntla </a:t>
                      </a:r>
                      <a:r>
                        <a:rPr lang="en-US" sz="2400" b="true">
                          <a:solidFill>
                            <a:srgbClr val="2D374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Sindhu 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374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Hotel Booking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374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Selenium PyTest + BDD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374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 / 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A23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A23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Hariharan 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A23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Trip Planner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A23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Selenium PyTest + BDD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A23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 / 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374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D374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Punya </a:t>
                      </a:r>
                      <a:r>
                        <a:rPr lang="en-US" sz="2400" b="true">
                          <a:solidFill>
                            <a:srgbClr val="2D374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Pratiksha Sahoo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374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Flight Booking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374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Selenium PyTest + BDD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374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 / 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A23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A23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Himanshu Gupta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A23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Train Booking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A23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Selenium PyTest + BDD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A23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 / 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374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D374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Trisha Nandi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374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Vande Bharat Train Booking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374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Selenium PyTest + BDD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D374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 / 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A23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A23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Pramithi Pal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A23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Bus Booking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A23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Selenium PyTest + BDD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A23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 / 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901703" y="1541783"/>
            <a:ext cx="16484603" cy="976379"/>
            <a:chOff x="0" y="0"/>
            <a:chExt cx="21979471" cy="13018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79510" cy="1301877"/>
            </a:xfrm>
            <a:custGeom>
              <a:avLst/>
              <a:gdLst/>
              <a:ahLst/>
              <a:cxnLst/>
              <a:rect r="r" b="b" t="t" l="l"/>
              <a:pathLst>
                <a:path h="1301877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0A1628"/>
            </a:solidFill>
            <a:ln w="25400" cap="sq">
              <a:solidFill>
                <a:srgbClr val="0A162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1554480"/>
            <a:ext cx="731520" cy="950976"/>
            <a:chOff x="0" y="0"/>
            <a:chExt cx="975360" cy="12679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5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6794" t="0" r="-11679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7536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5920" y="1554480"/>
            <a:ext cx="3108960" cy="950976"/>
            <a:chOff x="0" y="0"/>
            <a:chExt cx="4145280" cy="12679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45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1" r="0" b="-137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14528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754880" y="1554480"/>
            <a:ext cx="4572000" cy="950976"/>
            <a:chOff x="0" y="0"/>
            <a:chExt cx="6096000" cy="12679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960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678" r="0" b="-436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0960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26880" y="1554480"/>
            <a:ext cx="5486400" cy="950976"/>
            <a:chOff x="0" y="0"/>
            <a:chExt cx="7315200" cy="12679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3152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Framework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813280" y="1554480"/>
            <a:ext cx="2560320" cy="950976"/>
            <a:chOff x="0" y="0"/>
            <a:chExt cx="3413760" cy="12679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137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41376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Tests / Pass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31520" y="9692640"/>
            <a:ext cx="16459200" cy="402336"/>
            <a:chOff x="0" y="0"/>
            <a:chExt cx="21945600" cy="5364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19456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Wipro  |  Domain: Travel &amp; Booking  |  Platform: Ixigo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44859"/>
            <a:chOff x="0" y="0"/>
            <a:chExt cx="24417871" cy="32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27383" y="444503"/>
            <a:ext cx="939803" cy="939803"/>
            <a:chOff x="0" y="0"/>
            <a:chExt cx="1253071" cy="1253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457200"/>
            <a:ext cx="914400" cy="914400"/>
            <a:chOff x="0" y="0"/>
            <a:chExt cx="1219200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28800" y="402336"/>
            <a:ext cx="10972800" cy="797272"/>
            <a:chOff x="0" y="0"/>
            <a:chExt cx="14630400" cy="10630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1063030"/>
            </a:xfrm>
            <a:custGeom>
              <a:avLst/>
              <a:gdLst/>
              <a:ahLst/>
              <a:cxnLst/>
              <a:rect r="r" b="b" t="t" l="l"/>
              <a:pathLst>
                <a:path h="106303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029" r="0" b="-2083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4630400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Telukuntla </a:t>
              </a:r>
              <a:r>
                <a:rPr lang="en-US" sz="4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Sindhu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28800" y="1042416"/>
            <a:ext cx="11887200" cy="475488"/>
            <a:chOff x="0" y="0"/>
            <a:chExt cx="15849600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849600" cy="633984"/>
            </a:xfrm>
            <a:custGeom>
              <a:avLst/>
              <a:gdLst/>
              <a:ahLst/>
              <a:cxnLst/>
              <a:rect r="r" b="b" t="t" l="l"/>
              <a:pathLst>
                <a:path h="633984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5849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Ixigo</a:t>
              </a:r>
              <a:r>
                <a:rPr lang="en-US" sz="22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Hotel Booking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251943" y="499367"/>
            <a:ext cx="3683003" cy="793499"/>
            <a:chOff x="0" y="0"/>
            <a:chExt cx="4910671" cy="10579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10709" cy="1058037"/>
            </a:xfrm>
            <a:custGeom>
              <a:avLst/>
              <a:gdLst/>
              <a:ahLst/>
              <a:cxnLst/>
              <a:rect r="r" b="b" t="t" l="l"/>
              <a:pathLst>
                <a:path h="1058037" w="4910709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709160" y="0"/>
                  </a:lnTo>
                  <a:cubicBezTo>
                    <a:pt x="4820412" y="0"/>
                    <a:pt x="4910709" y="90170"/>
                    <a:pt x="4910709" y="201549"/>
                  </a:cubicBezTo>
                  <a:lnTo>
                    <a:pt x="4910709" y="856488"/>
                  </a:lnTo>
                  <a:cubicBezTo>
                    <a:pt x="4910709" y="967740"/>
                    <a:pt x="4820539" y="1058037"/>
                    <a:pt x="4709160" y="1058037"/>
                  </a:cubicBezTo>
                  <a:lnTo>
                    <a:pt x="201549" y="1058037"/>
                  </a:lnTo>
                  <a:cubicBezTo>
                    <a:pt x="90170" y="1058037"/>
                    <a:pt x="0" y="967740"/>
                    <a:pt x="0" y="856488"/>
                  </a:cubicBezTo>
                  <a:close/>
                </a:path>
              </a:pathLst>
            </a:custGeom>
            <a:solidFill>
              <a:srgbClr val="FFF7ED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264640" y="512064"/>
            <a:ext cx="3657600" cy="768096"/>
            <a:chOff x="0" y="0"/>
            <a:chExt cx="487680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8768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Selenium PyTest + BDD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7383" y="1633223"/>
            <a:ext cx="17033243" cy="25403"/>
            <a:chOff x="0" y="0"/>
            <a:chExt cx="22710991" cy="338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711029" cy="33909"/>
            </a:xfrm>
            <a:custGeom>
              <a:avLst/>
              <a:gdLst/>
              <a:ahLst/>
              <a:cxnLst/>
              <a:rect r="r" b="b" t="t" l="l"/>
              <a:pathLst>
                <a:path h="33909" w="22711029">
                  <a:moveTo>
                    <a:pt x="0" y="0"/>
                  </a:moveTo>
                  <a:lnTo>
                    <a:pt x="22711029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3000411" r="0" b="-13000299"/>
              </a:stretch>
            </a:blip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40080" y="1828800"/>
            <a:ext cx="16459200" cy="457200"/>
            <a:chOff x="0" y="0"/>
            <a:chExt cx="21945600" cy="609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1945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40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OVERVIEW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7383" y="2364743"/>
            <a:ext cx="17033243" cy="1305563"/>
            <a:chOff x="0" y="0"/>
            <a:chExt cx="22710991" cy="17407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711029" cy="1740789"/>
            </a:xfrm>
            <a:custGeom>
              <a:avLst/>
              <a:gdLst/>
              <a:ahLst/>
              <a:cxnLst/>
              <a:rect r="r" b="b" t="t" l="l"/>
              <a:pathLst>
                <a:path h="1740789" w="22711029">
                  <a:moveTo>
                    <a:pt x="0" y="0"/>
                  </a:moveTo>
                  <a:lnTo>
                    <a:pt x="22711029" y="0"/>
                  </a:lnTo>
                  <a:lnTo>
                    <a:pt x="2271102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9FAF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2377440"/>
            <a:ext cx="16459200" cy="1280160"/>
            <a:chOff x="0" y="0"/>
            <a:chExt cx="21945600" cy="17068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9456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Automates</a:t>
              </a:r>
              <a:r>
                <a:rPr lang="en-US" sz="24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the end-to-end hotel booking workflow: login, destination search, hotel search, filter application, room reservation, guest detail entry, and payment validation.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411368" y="3679831"/>
            <a:ext cx="8235918" cy="4368044"/>
            <a:chOff x="0" y="0"/>
            <a:chExt cx="10981225" cy="5824059"/>
          </a:xfrm>
        </p:grpSpPr>
        <p:sp>
          <p:nvSpPr>
            <p:cNvPr name="Freeform 31" id="31"/>
            <p:cNvSpPr/>
            <p:nvPr/>
          </p:nvSpPr>
          <p:spPr>
            <a:xfrm flipH="false" flipV="false" rot="5999">
              <a:off x="288793" y="259215"/>
              <a:ext cx="10697271" cy="5574166"/>
            </a:xfrm>
            <a:custGeom>
              <a:avLst/>
              <a:gdLst/>
              <a:ahLst/>
              <a:cxnLst/>
              <a:rect r="r" b="b" t="t" l="l"/>
              <a:pathLst>
                <a:path h="5574166" w="10697271">
                  <a:moveTo>
                    <a:pt x="0" y="18654"/>
                  </a:moveTo>
                  <a:lnTo>
                    <a:pt x="10687575" y="0"/>
                  </a:lnTo>
                  <a:lnTo>
                    <a:pt x="10697272" y="5555513"/>
                  </a:lnTo>
                  <a:lnTo>
                    <a:pt x="9697" y="5574166"/>
                  </a:lnTo>
                  <a:lnTo>
                    <a:pt x="0" y="18654"/>
                  </a:lnTo>
                  <a:close/>
                </a:path>
              </a:pathLst>
            </a:custGeom>
            <a:blipFill>
              <a:blip r:embed="rId4"/>
              <a:stretch>
                <a:fillRect l="-93708" t="-63729" r="-88658" b="-28772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9199" cy="5824059"/>
            </a:xfrm>
            <a:custGeom>
              <a:avLst/>
              <a:gdLst/>
              <a:ahLst/>
              <a:cxnLst/>
              <a:rect r="r" b="b" t="t" l="l"/>
              <a:pathLst>
                <a:path h="5824059" w="709199">
                  <a:moveTo>
                    <a:pt x="0" y="0"/>
                  </a:moveTo>
                  <a:lnTo>
                    <a:pt x="709199" y="0"/>
                  </a:lnTo>
                  <a:lnTo>
                    <a:pt x="709199" y="5824059"/>
                  </a:lnTo>
                  <a:lnTo>
                    <a:pt x="0" y="5824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02" t="0" r="-902" b="-496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81658" y="8422638"/>
            <a:ext cx="16941803" cy="1671323"/>
            <a:chOff x="0" y="0"/>
            <a:chExt cx="22589071" cy="2228431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5398351" cy="2228431"/>
              <a:chOff x="0" y="0"/>
              <a:chExt cx="5398351" cy="2228431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16929" y="16929"/>
              <a:ext cx="5364480" cy="1267968"/>
              <a:chOff x="0" y="0"/>
              <a:chExt cx="5364480" cy="1267968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973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6929" y="1236129"/>
              <a:ext cx="5364480" cy="682752"/>
              <a:chOff x="0" y="0"/>
              <a:chExt cx="5364480" cy="68275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Total Tests</a:t>
                </a: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5730240" y="0"/>
              <a:ext cx="5398351" cy="2228431"/>
              <a:chOff x="0" y="0"/>
              <a:chExt cx="5398351" cy="2228431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5747169" y="16929"/>
              <a:ext cx="5364480" cy="1267968"/>
              <a:chOff x="0" y="0"/>
              <a:chExt cx="5364480" cy="1267968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973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5747169" y="1236129"/>
              <a:ext cx="5364480" cy="682752"/>
              <a:chOff x="0" y="0"/>
              <a:chExt cx="5364480" cy="682752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Passed</a:t>
                </a: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11460480" y="0"/>
              <a:ext cx="5398351" cy="2228431"/>
              <a:chOff x="0" y="0"/>
              <a:chExt cx="5398351" cy="2228431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11477409" y="16929"/>
              <a:ext cx="5364480" cy="1267968"/>
              <a:chOff x="0" y="0"/>
              <a:chExt cx="5364480" cy="1267968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973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0</a:t>
                </a: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11477409" y="1236129"/>
              <a:ext cx="5364480" cy="682752"/>
              <a:chOff x="0" y="0"/>
              <a:chExt cx="5364480" cy="682752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Failed</a:t>
                </a: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17190720" y="0"/>
              <a:ext cx="5398351" cy="2228431"/>
              <a:chOff x="0" y="0"/>
              <a:chExt cx="5398351" cy="2228431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97316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60" id="60"/>
            <p:cNvGrpSpPr/>
            <p:nvPr/>
          </p:nvGrpSpPr>
          <p:grpSpPr>
            <a:xfrm rot="0">
              <a:off x="17207649" y="16929"/>
              <a:ext cx="5364480" cy="1267968"/>
              <a:chOff x="0" y="0"/>
              <a:chExt cx="5364480" cy="1267968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100%</a:t>
                </a: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17207649" y="1236129"/>
              <a:ext cx="5364480" cy="682752"/>
              <a:chOff x="0" y="0"/>
              <a:chExt cx="5364480" cy="682752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Accuracy</a:t>
                </a:r>
              </a:p>
            </p:txBody>
          </p:sp>
        </p:grpSp>
      </p:grpSp>
      <p:grpSp>
        <p:nvGrpSpPr>
          <p:cNvPr name="Group 66" id="66"/>
          <p:cNvGrpSpPr/>
          <p:nvPr/>
        </p:nvGrpSpPr>
        <p:grpSpPr>
          <a:xfrm rot="0">
            <a:off x="343417" y="3670306"/>
            <a:ext cx="8235918" cy="4368044"/>
            <a:chOff x="0" y="0"/>
            <a:chExt cx="10981225" cy="5824059"/>
          </a:xfrm>
        </p:grpSpPr>
        <p:sp>
          <p:nvSpPr>
            <p:cNvPr name="Freeform 67" id="67"/>
            <p:cNvSpPr/>
            <p:nvPr/>
          </p:nvSpPr>
          <p:spPr>
            <a:xfrm flipH="false" flipV="false" rot="5999">
              <a:off x="288793" y="259215"/>
              <a:ext cx="10697271" cy="5574166"/>
            </a:xfrm>
            <a:custGeom>
              <a:avLst/>
              <a:gdLst/>
              <a:ahLst/>
              <a:cxnLst/>
              <a:rect r="r" b="b" t="t" l="l"/>
              <a:pathLst>
                <a:path h="5574166" w="10697271">
                  <a:moveTo>
                    <a:pt x="0" y="18654"/>
                  </a:moveTo>
                  <a:lnTo>
                    <a:pt x="10687575" y="0"/>
                  </a:lnTo>
                  <a:lnTo>
                    <a:pt x="10697272" y="5555513"/>
                  </a:lnTo>
                  <a:lnTo>
                    <a:pt x="9697" y="5574166"/>
                  </a:lnTo>
                  <a:lnTo>
                    <a:pt x="0" y="18654"/>
                  </a:lnTo>
                  <a:close/>
                </a:path>
              </a:pathLst>
            </a:custGeom>
            <a:blipFill>
              <a:blip r:embed="rId4"/>
              <a:stretch>
                <a:fillRect l="-93708" t="-63729" r="-88658" b="-28772"/>
              </a:stretch>
            </a:blip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09199" cy="5824059"/>
            </a:xfrm>
            <a:custGeom>
              <a:avLst/>
              <a:gdLst/>
              <a:ahLst/>
              <a:cxnLst/>
              <a:rect r="r" b="b" t="t" l="l"/>
              <a:pathLst>
                <a:path h="5824059" w="709199">
                  <a:moveTo>
                    <a:pt x="0" y="0"/>
                  </a:moveTo>
                  <a:lnTo>
                    <a:pt x="709199" y="0"/>
                  </a:lnTo>
                  <a:lnTo>
                    <a:pt x="709199" y="5824059"/>
                  </a:lnTo>
                  <a:lnTo>
                    <a:pt x="0" y="5824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02" t="0" r="-902" b="-4960"/>
              </a:stretch>
            </a:blipFill>
          </p:spPr>
        </p:sp>
      </p:grpSp>
      <p:pic>
        <p:nvPicPr>
          <p:cNvPr name="Picture 69" id="6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63728" y="4131061"/>
            <a:ext cx="329944" cy="329745"/>
          </a:xfrm>
          <a:prstGeom prst="rect">
            <a:avLst/>
          </a:prstGeom>
        </p:spPr>
      </p:pic>
      <p:sp>
        <p:nvSpPr>
          <p:cNvPr name="Freeform 70" id="70"/>
          <p:cNvSpPr/>
          <p:nvPr/>
        </p:nvSpPr>
        <p:spPr>
          <a:xfrm flipH="false" flipV="false" rot="0">
            <a:off x="10018646" y="4158556"/>
            <a:ext cx="323622" cy="323622"/>
          </a:xfrm>
          <a:custGeom>
            <a:avLst/>
            <a:gdLst/>
            <a:ahLst/>
            <a:cxnLst/>
            <a:rect r="r" b="b" t="t" l="l"/>
            <a:pathLst>
              <a:path h="323622" w="323622">
                <a:moveTo>
                  <a:pt x="0" y="0"/>
                </a:moveTo>
                <a:lnTo>
                  <a:pt x="323621" y="0"/>
                </a:lnTo>
                <a:lnTo>
                  <a:pt x="323621" y="323622"/>
                </a:lnTo>
                <a:lnTo>
                  <a:pt x="0" y="3236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1235369" y="4147559"/>
            <a:ext cx="270829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8"/>
              </a:lnSpc>
            </a:pPr>
            <a:r>
              <a:rPr lang="en-US" sz="1915" spc="-38" b="true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Positive Tests Executed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458145" y="4117981"/>
            <a:ext cx="295354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spc="-38" b="true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Negative Tests Executed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216319" y="4860931"/>
            <a:ext cx="7334442" cy="2347061"/>
            <a:chOff x="0" y="0"/>
            <a:chExt cx="9779255" cy="3129415"/>
          </a:xfrm>
        </p:grpSpPr>
        <p:sp>
          <p:nvSpPr>
            <p:cNvPr name="TextBox 74" id="74"/>
            <p:cNvSpPr txBox="true"/>
            <p:nvPr/>
          </p:nvSpPr>
          <p:spPr>
            <a:xfrm rot="0">
              <a:off x="0" y="-38100"/>
              <a:ext cx="9779255" cy="348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0"/>
                </a:lnSpc>
              </a:pP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Hotel Search:</a:t>
              </a:r>
              <a:r>
                <a:rPr lang="en-US" sz="1593">
                  <a:solidFill>
                    <a:srgbClr val="050A30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Validated dynamic destination search using auto-suggestions.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0" y="703787"/>
              <a:ext cx="9779255" cy="73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0"/>
                </a:lnSpc>
              </a:pP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Filter Validation:</a:t>
              </a:r>
              <a:r>
                <a:rPr lang="en-US" sz="1593">
                  <a:solidFill>
                    <a:srgbClr val="050A30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Verified successful application of the "Free Breakfast" filter.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0">
              <a:off x="0" y="1701963"/>
              <a:ext cx="9779255" cy="73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0"/>
                </a:lnSpc>
              </a:pP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Guest Details:</a:t>
              </a:r>
              <a:r>
                <a:rPr lang="en-US" sz="1593">
                  <a:solidFill>
                    <a:srgbClr val="050A30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Automated dynamic data entry from external CSV to the reservation form.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0" y="2767582"/>
              <a:ext cx="9243946" cy="361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0"/>
                </a:lnSpc>
              </a:pP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Payment Flow:</a:t>
              </a:r>
              <a:r>
                <a:rPr lang="en-US" sz="1593">
                  <a:solidFill>
                    <a:srgbClr val="050A30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Verified processing of correct Credit/Debit card details.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-761900" y="4308481"/>
            <a:ext cx="3581200" cy="3124200"/>
            <a:chOff x="0" y="0"/>
            <a:chExt cx="4774934" cy="4165600"/>
          </a:xfrm>
        </p:grpSpPr>
        <p:sp>
          <p:nvSpPr>
            <p:cNvPr name="TextBox 79" id="79"/>
            <p:cNvSpPr txBox="true"/>
            <p:nvPr/>
          </p:nvSpPr>
          <p:spPr>
            <a:xfrm rot="0">
              <a:off x="0" y="-142875"/>
              <a:ext cx="4774934" cy="1539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279"/>
                </a:lnSpc>
                <a:spcBef>
                  <a:spcPct val="0"/>
                </a:spcBef>
              </a:pPr>
              <a:r>
                <a:rPr lang="en-US" b="true" sz="6899">
                  <a:solidFill>
                    <a:srgbClr val="050A30">
                      <a:alpha val="37647"/>
                    </a:srgbClr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.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0">
              <a:off x="0" y="555625"/>
              <a:ext cx="4774934" cy="1539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279"/>
                </a:lnSpc>
                <a:spcBef>
                  <a:spcPct val="0"/>
                </a:spcBef>
              </a:pPr>
              <a:r>
                <a:rPr lang="en-US" b="true" sz="6899">
                  <a:solidFill>
                    <a:srgbClr val="050A30">
                      <a:alpha val="37647"/>
                    </a:srgbClr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.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0" y="1597025"/>
              <a:ext cx="4774934" cy="1539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279"/>
                </a:lnSpc>
                <a:spcBef>
                  <a:spcPct val="0"/>
                </a:spcBef>
              </a:pPr>
              <a:r>
                <a:rPr lang="en-US" b="true" sz="6899">
                  <a:solidFill>
                    <a:srgbClr val="050A30">
                      <a:alpha val="37647"/>
                    </a:srgbClr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.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0">
              <a:off x="0" y="2625725"/>
              <a:ext cx="4774934" cy="1539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279"/>
                </a:lnSpc>
                <a:spcBef>
                  <a:spcPct val="0"/>
                </a:spcBef>
              </a:pPr>
              <a:r>
                <a:rPr lang="en-US" b="true" sz="6899">
                  <a:solidFill>
                    <a:srgbClr val="050A30">
                      <a:alpha val="37647"/>
                    </a:srgbClr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.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0517791" y="4899031"/>
            <a:ext cx="6023073" cy="143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b="true" sz="1644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Invail Payment:</a:t>
            </a:r>
            <a:r>
              <a:rPr lang="en-US" sz="1644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 Verified system error handling for insufficient card digits.</a:t>
            </a:r>
          </a:p>
          <a:p>
            <a:pPr algn="l">
              <a:lnSpc>
                <a:spcPts val="2301"/>
              </a:lnSpc>
            </a:pPr>
          </a:p>
          <a:p>
            <a:pPr algn="l" marL="0" indent="0" lvl="1">
              <a:lnSpc>
                <a:spcPts val="2301"/>
              </a:lnSpc>
            </a:pPr>
            <a:r>
              <a:rPr lang="en-US" b="true" sz="1644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Empty Details:</a:t>
            </a:r>
            <a:r>
              <a:rPr lang="en-US" sz="1644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 Ensured validation triggers when mandatory guest fields are left blank.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389856" y="4232281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8389856" y="5110828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44859"/>
            <a:chOff x="0" y="0"/>
            <a:chExt cx="24417871" cy="32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27383" y="444503"/>
            <a:ext cx="939803" cy="939803"/>
            <a:chOff x="0" y="0"/>
            <a:chExt cx="1253071" cy="1253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457200"/>
            <a:ext cx="914400" cy="914400"/>
            <a:chOff x="0" y="0"/>
            <a:chExt cx="1219200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28800" y="402336"/>
            <a:ext cx="10972800" cy="640080"/>
            <a:chOff x="0" y="0"/>
            <a:chExt cx="1463040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46304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Hariharan 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28800" y="1042416"/>
            <a:ext cx="11887200" cy="475488"/>
            <a:chOff x="0" y="0"/>
            <a:chExt cx="15849600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849600" cy="633984"/>
            </a:xfrm>
            <a:custGeom>
              <a:avLst/>
              <a:gdLst/>
              <a:ahLst/>
              <a:cxnLst/>
              <a:rect r="r" b="b" t="t" l="l"/>
              <a:pathLst>
                <a:path h="633984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5849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Ixigo Trip Planner — Selenium PyTest + BDD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251943" y="499367"/>
            <a:ext cx="3683003" cy="793499"/>
            <a:chOff x="0" y="0"/>
            <a:chExt cx="4910671" cy="10579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10709" cy="1058037"/>
            </a:xfrm>
            <a:custGeom>
              <a:avLst/>
              <a:gdLst/>
              <a:ahLst/>
              <a:cxnLst/>
              <a:rect r="r" b="b" t="t" l="l"/>
              <a:pathLst>
                <a:path h="1058037" w="4910709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709160" y="0"/>
                  </a:lnTo>
                  <a:cubicBezTo>
                    <a:pt x="4820412" y="0"/>
                    <a:pt x="4910709" y="90170"/>
                    <a:pt x="4910709" y="201549"/>
                  </a:cubicBezTo>
                  <a:lnTo>
                    <a:pt x="4910709" y="856488"/>
                  </a:lnTo>
                  <a:cubicBezTo>
                    <a:pt x="4910709" y="967740"/>
                    <a:pt x="4820539" y="1058037"/>
                    <a:pt x="4709160" y="1058037"/>
                  </a:cubicBezTo>
                  <a:lnTo>
                    <a:pt x="201549" y="1058037"/>
                  </a:lnTo>
                  <a:cubicBezTo>
                    <a:pt x="90170" y="1058037"/>
                    <a:pt x="0" y="967740"/>
                    <a:pt x="0" y="856488"/>
                  </a:cubicBezTo>
                  <a:close/>
                </a:path>
              </a:pathLst>
            </a:custGeom>
            <a:solidFill>
              <a:srgbClr val="FFF7ED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264640" y="512064"/>
            <a:ext cx="3657600" cy="768096"/>
            <a:chOff x="0" y="0"/>
            <a:chExt cx="487680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8768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Selenium PyTest + BDD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7383" y="1633223"/>
            <a:ext cx="17033243" cy="25403"/>
            <a:chOff x="0" y="0"/>
            <a:chExt cx="22710991" cy="338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711029" cy="33909"/>
            </a:xfrm>
            <a:custGeom>
              <a:avLst/>
              <a:gdLst/>
              <a:ahLst/>
              <a:cxnLst/>
              <a:rect r="r" b="b" t="t" l="l"/>
              <a:pathLst>
                <a:path h="33909" w="22711029">
                  <a:moveTo>
                    <a:pt x="0" y="0"/>
                  </a:moveTo>
                  <a:lnTo>
                    <a:pt x="22711029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3000411" r="0" b="-13000299"/>
              </a:stretch>
            </a:blip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81658" y="8422638"/>
            <a:ext cx="16941803" cy="1671323"/>
            <a:chOff x="0" y="0"/>
            <a:chExt cx="22589071" cy="222843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398351" cy="2228431"/>
              <a:chOff x="0" y="0"/>
              <a:chExt cx="5398351" cy="222843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16929" y="16929"/>
              <a:ext cx="5364480" cy="1267968"/>
              <a:chOff x="0" y="0"/>
              <a:chExt cx="5364480" cy="1267968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973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6929" y="1236129"/>
              <a:ext cx="5364480" cy="682752"/>
              <a:chOff x="0" y="0"/>
              <a:chExt cx="5364480" cy="68275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Total Tests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5730240" y="0"/>
              <a:ext cx="5398351" cy="2228431"/>
              <a:chOff x="0" y="0"/>
              <a:chExt cx="5398351" cy="2228431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5747169" y="16929"/>
              <a:ext cx="5364480" cy="1267968"/>
              <a:chOff x="0" y="0"/>
              <a:chExt cx="5364480" cy="1267968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973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5747169" y="1236129"/>
              <a:ext cx="5364480" cy="682752"/>
              <a:chOff x="0" y="0"/>
              <a:chExt cx="5364480" cy="68275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Passed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1460480" y="0"/>
              <a:ext cx="5398351" cy="2228431"/>
              <a:chOff x="0" y="0"/>
              <a:chExt cx="5398351" cy="2228431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11477409" y="16929"/>
              <a:ext cx="5364480" cy="1267968"/>
              <a:chOff x="0" y="0"/>
              <a:chExt cx="5364480" cy="1267968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973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0</a:t>
                </a: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11477409" y="1236129"/>
              <a:ext cx="5364480" cy="682752"/>
              <a:chOff x="0" y="0"/>
              <a:chExt cx="5364480" cy="682752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Failed</a:t>
                </a: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17190720" y="0"/>
              <a:ext cx="5398351" cy="2228431"/>
              <a:chOff x="0" y="0"/>
              <a:chExt cx="5398351" cy="2228431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97316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17207649" y="16929"/>
              <a:ext cx="5364480" cy="1267968"/>
              <a:chOff x="0" y="0"/>
              <a:chExt cx="5364480" cy="1267968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100%</a:t>
                </a: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17207649" y="1236129"/>
              <a:ext cx="5364480" cy="682752"/>
              <a:chOff x="0" y="0"/>
              <a:chExt cx="5364480" cy="682752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Accuracy</a:t>
                </a:r>
              </a:p>
            </p:txBody>
          </p:sp>
        </p:grpSp>
      </p:grpSp>
      <p:grpSp>
        <p:nvGrpSpPr>
          <p:cNvPr name="Group 55" id="55"/>
          <p:cNvGrpSpPr/>
          <p:nvPr/>
        </p:nvGrpSpPr>
        <p:grpSpPr>
          <a:xfrm rot="0">
            <a:off x="9411368" y="3679831"/>
            <a:ext cx="8235918" cy="4368044"/>
            <a:chOff x="0" y="0"/>
            <a:chExt cx="10981225" cy="5824059"/>
          </a:xfrm>
        </p:grpSpPr>
        <p:sp>
          <p:nvSpPr>
            <p:cNvPr name="Freeform 56" id="56"/>
            <p:cNvSpPr/>
            <p:nvPr/>
          </p:nvSpPr>
          <p:spPr>
            <a:xfrm flipH="false" flipV="false" rot="5999">
              <a:off x="288793" y="259215"/>
              <a:ext cx="10697271" cy="5574166"/>
            </a:xfrm>
            <a:custGeom>
              <a:avLst/>
              <a:gdLst/>
              <a:ahLst/>
              <a:cxnLst/>
              <a:rect r="r" b="b" t="t" l="l"/>
              <a:pathLst>
                <a:path h="5574166" w="10697271">
                  <a:moveTo>
                    <a:pt x="0" y="18654"/>
                  </a:moveTo>
                  <a:lnTo>
                    <a:pt x="10687575" y="0"/>
                  </a:lnTo>
                  <a:lnTo>
                    <a:pt x="10697272" y="5555513"/>
                  </a:lnTo>
                  <a:lnTo>
                    <a:pt x="9697" y="5574166"/>
                  </a:lnTo>
                  <a:lnTo>
                    <a:pt x="0" y="18654"/>
                  </a:lnTo>
                  <a:close/>
                </a:path>
              </a:pathLst>
            </a:custGeom>
            <a:blipFill>
              <a:blip r:embed="rId4"/>
              <a:stretch>
                <a:fillRect l="-93708" t="-63729" r="-88658" b="-28772"/>
              </a:stretch>
            </a:blip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09199" cy="5824059"/>
            </a:xfrm>
            <a:custGeom>
              <a:avLst/>
              <a:gdLst/>
              <a:ahLst/>
              <a:cxnLst/>
              <a:rect r="r" b="b" t="t" l="l"/>
              <a:pathLst>
                <a:path h="5824059" w="709199">
                  <a:moveTo>
                    <a:pt x="0" y="0"/>
                  </a:moveTo>
                  <a:lnTo>
                    <a:pt x="709199" y="0"/>
                  </a:lnTo>
                  <a:lnTo>
                    <a:pt x="709199" y="5824059"/>
                  </a:lnTo>
                  <a:lnTo>
                    <a:pt x="0" y="5824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02" t="0" r="-902" b="-496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343417" y="3670306"/>
            <a:ext cx="8235918" cy="4368044"/>
            <a:chOff x="0" y="0"/>
            <a:chExt cx="10981225" cy="5824059"/>
          </a:xfrm>
        </p:grpSpPr>
        <p:sp>
          <p:nvSpPr>
            <p:cNvPr name="Freeform 59" id="59"/>
            <p:cNvSpPr/>
            <p:nvPr/>
          </p:nvSpPr>
          <p:spPr>
            <a:xfrm flipH="false" flipV="false" rot="5999">
              <a:off x="288793" y="259215"/>
              <a:ext cx="10697271" cy="5574166"/>
            </a:xfrm>
            <a:custGeom>
              <a:avLst/>
              <a:gdLst/>
              <a:ahLst/>
              <a:cxnLst/>
              <a:rect r="r" b="b" t="t" l="l"/>
              <a:pathLst>
                <a:path h="5574166" w="10697271">
                  <a:moveTo>
                    <a:pt x="0" y="18654"/>
                  </a:moveTo>
                  <a:lnTo>
                    <a:pt x="10687575" y="0"/>
                  </a:lnTo>
                  <a:lnTo>
                    <a:pt x="10697272" y="5555513"/>
                  </a:lnTo>
                  <a:lnTo>
                    <a:pt x="9697" y="5574166"/>
                  </a:lnTo>
                  <a:lnTo>
                    <a:pt x="0" y="18654"/>
                  </a:lnTo>
                  <a:close/>
                </a:path>
              </a:pathLst>
            </a:custGeom>
            <a:blipFill>
              <a:blip r:embed="rId4"/>
              <a:stretch>
                <a:fillRect l="-93708" t="-63729" r="-88658" b="-28772"/>
              </a:stretch>
            </a:blip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09199" cy="5824059"/>
            </a:xfrm>
            <a:custGeom>
              <a:avLst/>
              <a:gdLst/>
              <a:ahLst/>
              <a:cxnLst/>
              <a:rect r="r" b="b" t="t" l="l"/>
              <a:pathLst>
                <a:path h="5824059" w="709199">
                  <a:moveTo>
                    <a:pt x="0" y="0"/>
                  </a:moveTo>
                  <a:lnTo>
                    <a:pt x="709199" y="0"/>
                  </a:lnTo>
                  <a:lnTo>
                    <a:pt x="709199" y="5824059"/>
                  </a:lnTo>
                  <a:lnTo>
                    <a:pt x="0" y="5824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02" t="0" r="-902" b="-4960"/>
              </a:stretch>
            </a:blipFill>
          </p:spPr>
        </p:sp>
      </p:grpSp>
      <p:pic>
        <p:nvPicPr>
          <p:cNvPr name="Picture 61" id="6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63728" y="4131061"/>
            <a:ext cx="329944" cy="329745"/>
          </a:xfrm>
          <a:prstGeom prst="rect">
            <a:avLst/>
          </a:prstGeom>
        </p:spPr>
      </p:pic>
      <p:sp>
        <p:nvSpPr>
          <p:cNvPr name="Freeform 62" id="62"/>
          <p:cNvSpPr/>
          <p:nvPr/>
        </p:nvSpPr>
        <p:spPr>
          <a:xfrm flipH="false" flipV="false" rot="0">
            <a:off x="10018646" y="4158556"/>
            <a:ext cx="323622" cy="323622"/>
          </a:xfrm>
          <a:custGeom>
            <a:avLst/>
            <a:gdLst/>
            <a:ahLst/>
            <a:cxnLst/>
            <a:rect r="r" b="b" t="t" l="l"/>
            <a:pathLst>
              <a:path h="323622" w="323622">
                <a:moveTo>
                  <a:pt x="0" y="0"/>
                </a:moveTo>
                <a:lnTo>
                  <a:pt x="323621" y="0"/>
                </a:lnTo>
                <a:lnTo>
                  <a:pt x="323621" y="323622"/>
                </a:lnTo>
                <a:lnTo>
                  <a:pt x="0" y="3236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1235369" y="4147559"/>
            <a:ext cx="270829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8"/>
              </a:lnSpc>
            </a:pPr>
            <a:r>
              <a:rPr lang="en-US" sz="1915" spc="-38" b="true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Positive Tests Executed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458145" y="4117981"/>
            <a:ext cx="295354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spc="-38" b="true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Negative Tests Executed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16319" y="4822831"/>
            <a:ext cx="7334442" cy="55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P</a:t>
            </a: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lan Navigation: </a:t>
            </a:r>
            <a:r>
              <a:rPr lang="en-US" sz="1593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Validated successful loading and routing of planner module URLs.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16319" y="5422124"/>
            <a:ext cx="7334442" cy="826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Mon</a:t>
            </a: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th Selection:</a:t>
            </a:r>
            <a:r>
              <a:rPr lang="en-US" sz="1593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 Automated dynamic travel month input driven by Excel data.</a:t>
            </a:r>
          </a:p>
          <a:p>
            <a:pPr algn="l">
              <a:lnSpc>
                <a:spcPts val="2230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1235369" y="6127756"/>
            <a:ext cx="7334442" cy="826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Fil</a:t>
            </a: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ter Application:</a:t>
            </a:r>
            <a:r>
              <a:rPr lang="en-US" sz="1593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 Validated results for "International" &amp; "Pollution Free" tags.</a:t>
            </a:r>
          </a:p>
          <a:p>
            <a:pPr algn="l">
              <a:lnSpc>
                <a:spcPts val="2230"/>
              </a:lnSpc>
            </a:pPr>
          </a:p>
        </p:txBody>
      </p:sp>
      <p:sp>
        <p:nvSpPr>
          <p:cNvPr name="TextBox 68" id="68"/>
          <p:cNvSpPr txBox="true"/>
          <p:nvPr/>
        </p:nvSpPr>
        <p:spPr>
          <a:xfrm rot="0">
            <a:off x="1216319" y="6906440"/>
            <a:ext cx="6932960" cy="110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Loc</a:t>
            </a: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ation Card: </a:t>
            </a:r>
            <a:r>
              <a:rPr lang="en-US" sz="1593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Verified successful navigation to specific tourist destination pages.</a:t>
            </a:r>
          </a:p>
          <a:p>
            <a:pPr algn="l">
              <a:lnSpc>
                <a:spcPts val="2230"/>
              </a:lnSpc>
            </a:pPr>
          </a:p>
          <a:p>
            <a:pPr algn="l">
              <a:lnSpc>
                <a:spcPts val="2230"/>
              </a:lnSpc>
            </a:pPr>
          </a:p>
        </p:txBody>
      </p:sp>
      <p:sp>
        <p:nvSpPr>
          <p:cNvPr name="TextBox 69" id="69"/>
          <p:cNvSpPr txBox="true"/>
          <p:nvPr/>
        </p:nvSpPr>
        <p:spPr>
          <a:xfrm rot="0">
            <a:off x="-761900" y="4165606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-761900" y="4756156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-761900" y="5458640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-761900" y="6277790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517791" y="4899031"/>
            <a:ext cx="6023073" cy="200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b="true" sz="1644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Invalid Location: </a:t>
            </a:r>
            <a:r>
              <a:rPr lang="en-US" sz="1644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Verified the "no results found" error message displays correctly.</a:t>
            </a:r>
          </a:p>
          <a:p>
            <a:pPr algn="l">
              <a:lnSpc>
                <a:spcPts val="2301"/>
              </a:lnSpc>
            </a:pPr>
          </a:p>
          <a:p>
            <a:pPr algn="l">
              <a:lnSpc>
                <a:spcPts val="2301"/>
              </a:lnSpc>
            </a:pPr>
            <a:r>
              <a:rPr lang="en-US" b="true" sz="1644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Book Now Bu</a:t>
            </a:r>
            <a:r>
              <a:rPr lang="en-US" b="true" sz="1644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tton: </a:t>
            </a:r>
            <a:r>
              <a:rPr lang="en-US" sz="1644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Ensured the booking button remains hidden for unsupported routes.</a:t>
            </a:r>
          </a:p>
          <a:p>
            <a:pPr algn="l">
              <a:lnSpc>
                <a:spcPts val="2301"/>
              </a:lnSpc>
            </a:pPr>
          </a:p>
          <a:p>
            <a:pPr algn="l">
              <a:lnSpc>
                <a:spcPts val="2301"/>
              </a:lnSpc>
            </a:pPr>
          </a:p>
        </p:txBody>
      </p:sp>
      <p:sp>
        <p:nvSpPr>
          <p:cNvPr name="TextBox 74" id="74"/>
          <p:cNvSpPr txBox="true"/>
          <p:nvPr/>
        </p:nvSpPr>
        <p:spPr>
          <a:xfrm rot="0">
            <a:off x="8389856" y="4232281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8389856" y="5110828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640080" y="1828800"/>
            <a:ext cx="16459200" cy="457200"/>
            <a:chOff x="0" y="0"/>
            <a:chExt cx="21945600" cy="609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21945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40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OVERVIEW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27383" y="2364743"/>
            <a:ext cx="17033243" cy="1305563"/>
            <a:chOff x="0" y="0"/>
            <a:chExt cx="22710991" cy="174075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2711029" cy="1740789"/>
            </a:xfrm>
            <a:custGeom>
              <a:avLst/>
              <a:gdLst/>
              <a:ahLst/>
              <a:cxnLst/>
              <a:rect r="r" b="b" t="t" l="l"/>
              <a:pathLst>
                <a:path h="1740789" w="22711029">
                  <a:moveTo>
                    <a:pt x="0" y="0"/>
                  </a:moveTo>
                  <a:lnTo>
                    <a:pt x="22711029" y="0"/>
                  </a:lnTo>
                  <a:lnTo>
                    <a:pt x="2271102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9FAF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822960" y="2377440"/>
            <a:ext cx="16459200" cy="1280160"/>
            <a:chOff x="0" y="0"/>
            <a:chExt cx="21945600" cy="17068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219456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Automates</a:t>
              </a:r>
              <a:r>
                <a:rPr lang="en-US" sz="24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the ixigo Trip Planner module: travel month selection, origin city entry, filter selection, tourist location navigation, Google Maps verification, and flight booking workflow.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44859"/>
            <a:chOff x="0" y="0"/>
            <a:chExt cx="24417871" cy="32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27383" y="444503"/>
            <a:ext cx="939803" cy="939803"/>
            <a:chOff x="0" y="0"/>
            <a:chExt cx="1253071" cy="1253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828800" y="402336"/>
            <a:ext cx="10972800" cy="797272"/>
            <a:chOff x="0" y="0"/>
            <a:chExt cx="14630400" cy="10630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1063030"/>
            </a:xfrm>
            <a:custGeom>
              <a:avLst/>
              <a:gdLst/>
              <a:ahLst/>
              <a:cxnLst/>
              <a:rect r="r" b="b" t="t" l="l"/>
              <a:pathLst>
                <a:path h="106303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029" r="0" b="-2083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4630400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Punya </a:t>
              </a:r>
              <a:r>
                <a:rPr lang="en-US" sz="4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Pratiksha Sahoo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28800" y="1042416"/>
            <a:ext cx="11887200" cy="475488"/>
            <a:chOff x="0" y="0"/>
            <a:chExt cx="15849600" cy="6339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849600" cy="633984"/>
            </a:xfrm>
            <a:custGeom>
              <a:avLst/>
              <a:gdLst/>
              <a:ahLst/>
              <a:cxnLst/>
              <a:rect r="r" b="b" t="t" l="l"/>
              <a:pathLst>
                <a:path h="633984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5849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Ixigo</a:t>
              </a:r>
              <a:r>
                <a:rPr lang="en-US" sz="22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Flight Booking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251943" y="499367"/>
            <a:ext cx="3683003" cy="793499"/>
            <a:chOff x="0" y="0"/>
            <a:chExt cx="4910671" cy="10579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10709" cy="1058037"/>
            </a:xfrm>
            <a:custGeom>
              <a:avLst/>
              <a:gdLst/>
              <a:ahLst/>
              <a:cxnLst/>
              <a:rect r="r" b="b" t="t" l="l"/>
              <a:pathLst>
                <a:path h="1058037" w="4910709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709160" y="0"/>
                  </a:lnTo>
                  <a:cubicBezTo>
                    <a:pt x="4820412" y="0"/>
                    <a:pt x="4910709" y="90170"/>
                    <a:pt x="4910709" y="201549"/>
                  </a:cubicBezTo>
                  <a:lnTo>
                    <a:pt x="4910709" y="856488"/>
                  </a:lnTo>
                  <a:cubicBezTo>
                    <a:pt x="4910709" y="967740"/>
                    <a:pt x="4820539" y="1058037"/>
                    <a:pt x="4709160" y="1058037"/>
                  </a:cubicBezTo>
                  <a:lnTo>
                    <a:pt x="201549" y="1058037"/>
                  </a:lnTo>
                  <a:cubicBezTo>
                    <a:pt x="90170" y="1058037"/>
                    <a:pt x="0" y="967740"/>
                    <a:pt x="0" y="856488"/>
                  </a:cubicBezTo>
                  <a:close/>
                </a:path>
              </a:pathLst>
            </a:custGeom>
            <a:solidFill>
              <a:srgbClr val="FFF7ED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264640" y="512064"/>
            <a:ext cx="3657600" cy="768096"/>
            <a:chOff x="0" y="0"/>
            <a:chExt cx="4876800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8768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Selenium PyTest + BDD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7383" y="1633223"/>
            <a:ext cx="17033243" cy="25403"/>
            <a:chOff x="0" y="0"/>
            <a:chExt cx="22710991" cy="338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711029" cy="33909"/>
            </a:xfrm>
            <a:custGeom>
              <a:avLst/>
              <a:gdLst/>
              <a:ahLst/>
              <a:cxnLst/>
              <a:rect r="r" b="b" t="t" l="l"/>
              <a:pathLst>
                <a:path h="33909" w="22711029">
                  <a:moveTo>
                    <a:pt x="0" y="0"/>
                  </a:moveTo>
                  <a:lnTo>
                    <a:pt x="22711029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3000411" r="0" b="-13000299"/>
              </a:stretch>
            </a:blip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40080" y="1828800"/>
            <a:ext cx="16459200" cy="457200"/>
            <a:chOff x="0" y="0"/>
            <a:chExt cx="2194560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1945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40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OVERVIEW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27383" y="2364743"/>
            <a:ext cx="17033243" cy="1305563"/>
            <a:chOff x="0" y="0"/>
            <a:chExt cx="22710991" cy="17407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711029" cy="1740789"/>
            </a:xfrm>
            <a:custGeom>
              <a:avLst/>
              <a:gdLst/>
              <a:ahLst/>
              <a:cxnLst/>
              <a:rect r="r" b="b" t="t" l="l"/>
              <a:pathLst>
                <a:path h="1740789" w="22711029">
                  <a:moveTo>
                    <a:pt x="0" y="0"/>
                  </a:moveTo>
                  <a:lnTo>
                    <a:pt x="22711029" y="0"/>
                  </a:lnTo>
                  <a:lnTo>
                    <a:pt x="2271102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9FAF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2377440"/>
            <a:ext cx="16459200" cy="1280160"/>
            <a:chOff x="0" y="0"/>
            <a:chExt cx="21945600" cy="17068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9456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Automates</a:t>
              </a:r>
              <a:r>
                <a:rPr lang="en-US" sz="24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the ixigo flight booking path: search validation, result filtering/sorting, booking flow, traveller details, add-ons, seat selection, and payment page.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81658" y="8422638"/>
            <a:ext cx="16941803" cy="1671323"/>
            <a:chOff x="0" y="0"/>
            <a:chExt cx="22589071" cy="2228431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5398351" cy="2228431"/>
              <a:chOff x="0" y="0"/>
              <a:chExt cx="5398351" cy="222843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16929" y="16929"/>
              <a:ext cx="5364480" cy="1267968"/>
              <a:chOff x="0" y="0"/>
              <a:chExt cx="5364480" cy="126796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973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6929" y="1236129"/>
              <a:ext cx="5364480" cy="682752"/>
              <a:chOff x="0" y="0"/>
              <a:chExt cx="5364480" cy="682752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Total Tests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5730240" y="0"/>
              <a:ext cx="5398351" cy="2228431"/>
              <a:chOff x="0" y="0"/>
              <a:chExt cx="5398351" cy="2228431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5747169" y="16929"/>
              <a:ext cx="5364480" cy="1267968"/>
              <a:chOff x="0" y="0"/>
              <a:chExt cx="5364480" cy="1267968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973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5747169" y="1236129"/>
              <a:ext cx="5364480" cy="682752"/>
              <a:chOff x="0" y="0"/>
              <a:chExt cx="5364480" cy="682752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Passed</a:t>
                </a: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11460480" y="0"/>
              <a:ext cx="5398351" cy="2228431"/>
              <a:chOff x="0" y="0"/>
              <a:chExt cx="5398351" cy="2228431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11477409" y="16929"/>
              <a:ext cx="5364480" cy="1267968"/>
              <a:chOff x="0" y="0"/>
              <a:chExt cx="5364480" cy="1267968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973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0</a:t>
                </a: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11477409" y="1236129"/>
              <a:ext cx="5364480" cy="682752"/>
              <a:chOff x="0" y="0"/>
              <a:chExt cx="5364480" cy="68275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Failed</a:t>
                </a: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17190720" y="0"/>
              <a:ext cx="5398351" cy="2228431"/>
              <a:chOff x="0" y="0"/>
              <a:chExt cx="5398351" cy="2228431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97316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17207649" y="16929"/>
              <a:ext cx="5364480" cy="1267968"/>
              <a:chOff x="0" y="0"/>
              <a:chExt cx="5364480" cy="1267968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100%</a:t>
                </a: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7207649" y="1236129"/>
              <a:ext cx="5364480" cy="682752"/>
              <a:chOff x="0" y="0"/>
              <a:chExt cx="5364480" cy="682752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Accuracy</a:t>
                </a:r>
              </a:p>
            </p:txBody>
          </p:sp>
        </p:grpSp>
      </p:grpSp>
      <p:grpSp>
        <p:nvGrpSpPr>
          <p:cNvPr name="Group 60" id="60"/>
          <p:cNvGrpSpPr/>
          <p:nvPr/>
        </p:nvGrpSpPr>
        <p:grpSpPr>
          <a:xfrm rot="0">
            <a:off x="9411368" y="3679831"/>
            <a:ext cx="8235918" cy="4368044"/>
            <a:chOff x="0" y="0"/>
            <a:chExt cx="10981225" cy="5824059"/>
          </a:xfrm>
        </p:grpSpPr>
        <p:sp>
          <p:nvSpPr>
            <p:cNvPr name="Freeform 61" id="61"/>
            <p:cNvSpPr/>
            <p:nvPr/>
          </p:nvSpPr>
          <p:spPr>
            <a:xfrm flipH="false" flipV="false" rot="5999">
              <a:off x="288793" y="259215"/>
              <a:ext cx="10697271" cy="5574166"/>
            </a:xfrm>
            <a:custGeom>
              <a:avLst/>
              <a:gdLst/>
              <a:ahLst/>
              <a:cxnLst/>
              <a:rect r="r" b="b" t="t" l="l"/>
              <a:pathLst>
                <a:path h="5574166" w="10697271">
                  <a:moveTo>
                    <a:pt x="0" y="18654"/>
                  </a:moveTo>
                  <a:lnTo>
                    <a:pt x="10687575" y="0"/>
                  </a:lnTo>
                  <a:lnTo>
                    <a:pt x="10697272" y="5555513"/>
                  </a:lnTo>
                  <a:lnTo>
                    <a:pt x="9697" y="5574166"/>
                  </a:lnTo>
                  <a:lnTo>
                    <a:pt x="0" y="18654"/>
                  </a:lnTo>
                  <a:close/>
                </a:path>
              </a:pathLst>
            </a:custGeom>
            <a:blipFill>
              <a:blip r:embed="rId4"/>
              <a:stretch>
                <a:fillRect l="-93708" t="-63729" r="-88658" b="-28772"/>
              </a:stretch>
            </a:blip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09199" cy="5824059"/>
            </a:xfrm>
            <a:custGeom>
              <a:avLst/>
              <a:gdLst/>
              <a:ahLst/>
              <a:cxnLst/>
              <a:rect r="r" b="b" t="t" l="l"/>
              <a:pathLst>
                <a:path h="5824059" w="709199">
                  <a:moveTo>
                    <a:pt x="0" y="0"/>
                  </a:moveTo>
                  <a:lnTo>
                    <a:pt x="709199" y="0"/>
                  </a:lnTo>
                  <a:lnTo>
                    <a:pt x="709199" y="5824059"/>
                  </a:lnTo>
                  <a:lnTo>
                    <a:pt x="0" y="5824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02" t="0" r="-902" b="-496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362467" y="3670306"/>
            <a:ext cx="8235918" cy="4368044"/>
            <a:chOff x="0" y="0"/>
            <a:chExt cx="10981225" cy="5824059"/>
          </a:xfrm>
        </p:grpSpPr>
        <p:sp>
          <p:nvSpPr>
            <p:cNvPr name="Freeform 64" id="64"/>
            <p:cNvSpPr/>
            <p:nvPr/>
          </p:nvSpPr>
          <p:spPr>
            <a:xfrm flipH="false" flipV="false" rot="5999">
              <a:off x="288793" y="259215"/>
              <a:ext cx="10697271" cy="5574166"/>
            </a:xfrm>
            <a:custGeom>
              <a:avLst/>
              <a:gdLst/>
              <a:ahLst/>
              <a:cxnLst/>
              <a:rect r="r" b="b" t="t" l="l"/>
              <a:pathLst>
                <a:path h="5574166" w="10697271">
                  <a:moveTo>
                    <a:pt x="0" y="18654"/>
                  </a:moveTo>
                  <a:lnTo>
                    <a:pt x="10687575" y="0"/>
                  </a:lnTo>
                  <a:lnTo>
                    <a:pt x="10697272" y="5555513"/>
                  </a:lnTo>
                  <a:lnTo>
                    <a:pt x="9697" y="5574166"/>
                  </a:lnTo>
                  <a:lnTo>
                    <a:pt x="0" y="18654"/>
                  </a:lnTo>
                  <a:close/>
                </a:path>
              </a:pathLst>
            </a:custGeom>
            <a:blipFill>
              <a:blip r:embed="rId4"/>
              <a:stretch>
                <a:fillRect l="-93708" t="-63729" r="-88658" b="-28772"/>
              </a:stretch>
            </a:blip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09199" cy="5824059"/>
            </a:xfrm>
            <a:custGeom>
              <a:avLst/>
              <a:gdLst/>
              <a:ahLst/>
              <a:cxnLst/>
              <a:rect r="r" b="b" t="t" l="l"/>
              <a:pathLst>
                <a:path h="5824059" w="709199">
                  <a:moveTo>
                    <a:pt x="0" y="0"/>
                  </a:moveTo>
                  <a:lnTo>
                    <a:pt x="709199" y="0"/>
                  </a:lnTo>
                  <a:lnTo>
                    <a:pt x="709199" y="5824059"/>
                  </a:lnTo>
                  <a:lnTo>
                    <a:pt x="0" y="5824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02" t="0" r="-902" b="-4960"/>
              </a:stretch>
            </a:blipFill>
          </p:spPr>
        </p:sp>
      </p:grpSp>
      <p:pic>
        <p:nvPicPr>
          <p:cNvPr name="Picture 66" id="6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63728" y="4131061"/>
            <a:ext cx="329944" cy="329745"/>
          </a:xfrm>
          <a:prstGeom prst="rect">
            <a:avLst/>
          </a:prstGeom>
        </p:spPr>
      </p:pic>
      <p:sp>
        <p:nvSpPr>
          <p:cNvPr name="Freeform 67" id="67"/>
          <p:cNvSpPr/>
          <p:nvPr/>
        </p:nvSpPr>
        <p:spPr>
          <a:xfrm flipH="false" flipV="false" rot="0">
            <a:off x="10018646" y="4158556"/>
            <a:ext cx="323622" cy="323622"/>
          </a:xfrm>
          <a:custGeom>
            <a:avLst/>
            <a:gdLst/>
            <a:ahLst/>
            <a:cxnLst/>
            <a:rect r="r" b="b" t="t" l="l"/>
            <a:pathLst>
              <a:path h="323622" w="323622">
                <a:moveTo>
                  <a:pt x="0" y="0"/>
                </a:moveTo>
                <a:lnTo>
                  <a:pt x="323621" y="0"/>
                </a:lnTo>
                <a:lnTo>
                  <a:pt x="323621" y="323622"/>
                </a:lnTo>
                <a:lnTo>
                  <a:pt x="0" y="3236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1235369" y="4147559"/>
            <a:ext cx="270829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8"/>
              </a:lnSpc>
            </a:pPr>
            <a:r>
              <a:rPr lang="en-US" sz="1915" spc="-38" b="true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Positive Tests Executed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458145" y="4117981"/>
            <a:ext cx="295354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spc="-38" b="true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Negative Tests Executed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16319" y="4860931"/>
            <a:ext cx="7353492" cy="2767513"/>
            <a:chOff x="0" y="0"/>
            <a:chExt cx="9804655" cy="3690017"/>
          </a:xfrm>
        </p:grpSpPr>
        <p:sp>
          <p:nvSpPr>
            <p:cNvPr name="TextBox 71" id="71"/>
            <p:cNvSpPr txBox="true"/>
            <p:nvPr/>
          </p:nvSpPr>
          <p:spPr>
            <a:xfrm rot="0">
              <a:off x="0" y="-38100"/>
              <a:ext cx="9779255" cy="720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0"/>
                </a:lnSpc>
              </a:pP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Se</a:t>
              </a: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arch &amp; Filter: </a:t>
              </a:r>
              <a:r>
                <a:rPr lang="en-US" sz="1593">
                  <a:solidFill>
                    <a:srgbClr val="050A30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Validated flight result loading, non-stop filtering, and price sorting.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0" y="850900"/>
              <a:ext cx="9779255" cy="720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0"/>
                </a:lnSpc>
              </a:pP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Booking</a:t>
              </a: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 Navigation:</a:t>
              </a:r>
              <a:r>
                <a:rPr lang="en-US" sz="1593">
                  <a:solidFill>
                    <a:srgbClr val="050A30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Handled cancellation prompts and validated URL states.</a:t>
              </a:r>
            </a:p>
            <a:p>
              <a:pPr algn="l">
                <a:lnSpc>
                  <a:spcPts val="2230"/>
                </a:lnSpc>
              </a:pP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25400" y="1621402"/>
              <a:ext cx="9779255" cy="352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0"/>
                </a:lnSpc>
              </a:pP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Travell</a:t>
              </a: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er Entry:</a:t>
              </a:r>
              <a:r>
                <a:rPr lang="en-US" sz="1593">
                  <a:solidFill>
                    <a:srgbClr val="050A30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Automated form filling using external CSV data sets.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0" y="2600972"/>
              <a:ext cx="9243946" cy="1089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0"/>
                </a:lnSpc>
              </a:pP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Add-</a:t>
              </a: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ons &amp; Payment: </a:t>
              </a:r>
              <a:r>
                <a:rPr lang="en-US" sz="1593">
                  <a:solidFill>
                    <a:srgbClr val="050A30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Verified the seat selection process and payment page routing.</a:t>
              </a:r>
            </a:p>
            <a:p>
              <a:pPr algn="l">
                <a:lnSpc>
                  <a:spcPts val="2230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-761900" y="4165606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-761900" y="4822831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-761900" y="5420540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-761900" y="6158578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517791" y="4899031"/>
            <a:ext cx="6023073" cy="2291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b="true" sz="1644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S</a:t>
            </a:r>
            <a:r>
              <a:rPr lang="en-US" b="true" sz="1644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ame Route: </a:t>
            </a:r>
            <a:r>
              <a:rPr lang="en-US" sz="1644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Ensured search is blocked when source and destination are identical.</a:t>
            </a:r>
          </a:p>
          <a:p>
            <a:pPr algn="l">
              <a:lnSpc>
                <a:spcPts val="2301"/>
              </a:lnSpc>
            </a:pPr>
          </a:p>
          <a:p>
            <a:pPr algn="l">
              <a:lnSpc>
                <a:spcPts val="2301"/>
              </a:lnSpc>
            </a:pPr>
            <a:r>
              <a:rPr lang="en-US" b="true" sz="1644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Missing Inpu</a:t>
            </a:r>
            <a:r>
              <a:rPr lang="en-US" b="true" sz="1644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t: </a:t>
            </a:r>
            <a:r>
              <a:rPr lang="en-US" sz="1644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Ensured search is blocked when the destination field is omitted.</a:t>
            </a:r>
          </a:p>
          <a:p>
            <a:pPr algn="l">
              <a:lnSpc>
                <a:spcPts val="2301"/>
              </a:lnSpc>
            </a:pPr>
          </a:p>
          <a:p>
            <a:pPr algn="l">
              <a:lnSpc>
                <a:spcPts val="2301"/>
              </a:lnSpc>
            </a:pPr>
          </a:p>
          <a:p>
            <a:pPr algn="l">
              <a:lnSpc>
                <a:spcPts val="2301"/>
              </a:lnSpc>
            </a:pPr>
          </a:p>
        </p:txBody>
      </p:sp>
      <p:sp>
        <p:nvSpPr>
          <p:cNvPr name="TextBox 80" id="80"/>
          <p:cNvSpPr txBox="true"/>
          <p:nvPr/>
        </p:nvSpPr>
        <p:spPr>
          <a:xfrm rot="0">
            <a:off x="8389856" y="4232281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8399381" y="5139403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44859"/>
            <a:chOff x="0" y="0"/>
            <a:chExt cx="24417871" cy="32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27383" y="444503"/>
            <a:ext cx="939803" cy="939803"/>
            <a:chOff x="0" y="0"/>
            <a:chExt cx="1253071" cy="1253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457200"/>
            <a:ext cx="914400" cy="914400"/>
            <a:chOff x="0" y="0"/>
            <a:chExt cx="1219200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28800" y="402336"/>
            <a:ext cx="10972800" cy="640080"/>
            <a:chOff x="0" y="0"/>
            <a:chExt cx="1463040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46304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Himanshu Gupta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28800" y="1042416"/>
            <a:ext cx="11887200" cy="475488"/>
            <a:chOff x="0" y="0"/>
            <a:chExt cx="15849600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849600" cy="633984"/>
            </a:xfrm>
            <a:custGeom>
              <a:avLst/>
              <a:gdLst/>
              <a:ahLst/>
              <a:cxnLst/>
              <a:rect r="r" b="b" t="t" l="l"/>
              <a:pathLst>
                <a:path h="633984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5849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Ixig</a:t>
              </a:r>
              <a:r>
                <a:rPr lang="en-US" sz="22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Train Booking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251943" y="499367"/>
            <a:ext cx="3683003" cy="793499"/>
            <a:chOff x="0" y="0"/>
            <a:chExt cx="4910671" cy="10579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10709" cy="1058037"/>
            </a:xfrm>
            <a:custGeom>
              <a:avLst/>
              <a:gdLst/>
              <a:ahLst/>
              <a:cxnLst/>
              <a:rect r="r" b="b" t="t" l="l"/>
              <a:pathLst>
                <a:path h="1058037" w="4910709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709160" y="0"/>
                  </a:lnTo>
                  <a:cubicBezTo>
                    <a:pt x="4820412" y="0"/>
                    <a:pt x="4910709" y="90170"/>
                    <a:pt x="4910709" y="201549"/>
                  </a:cubicBezTo>
                  <a:lnTo>
                    <a:pt x="4910709" y="856488"/>
                  </a:lnTo>
                  <a:cubicBezTo>
                    <a:pt x="4910709" y="967740"/>
                    <a:pt x="4820539" y="1058037"/>
                    <a:pt x="4709160" y="1058037"/>
                  </a:cubicBezTo>
                  <a:lnTo>
                    <a:pt x="201549" y="1058037"/>
                  </a:lnTo>
                  <a:cubicBezTo>
                    <a:pt x="90170" y="1058037"/>
                    <a:pt x="0" y="967740"/>
                    <a:pt x="0" y="856488"/>
                  </a:cubicBezTo>
                  <a:close/>
                </a:path>
              </a:pathLst>
            </a:custGeom>
            <a:solidFill>
              <a:srgbClr val="FFF7ED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264640" y="512064"/>
            <a:ext cx="3657600" cy="768096"/>
            <a:chOff x="0" y="0"/>
            <a:chExt cx="487680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8768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Selenium PyTest + BDD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7383" y="1633223"/>
            <a:ext cx="17033243" cy="25403"/>
            <a:chOff x="0" y="0"/>
            <a:chExt cx="22710991" cy="338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711029" cy="33909"/>
            </a:xfrm>
            <a:custGeom>
              <a:avLst/>
              <a:gdLst/>
              <a:ahLst/>
              <a:cxnLst/>
              <a:rect r="r" b="b" t="t" l="l"/>
              <a:pathLst>
                <a:path h="33909" w="22711029">
                  <a:moveTo>
                    <a:pt x="0" y="0"/>
                  </a:moveTo>
                  <a:lnTo>
                    <a:pt x="22711029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3000411" r="0" b="-13000299"/>
              </a:stretch>
            </a:blip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40080" y="1828800"/>
            <a:ext cx="16459200" cy="457200"/>
            <a:chOff x="0" y="0"/>
            <a:chExt cx="21945600" cy="609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1945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40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OVERVIEW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7383" y="2364743"/>
            <a:ext cx="17033243" cy="1305563"/>
            <a:chOff x="0" y="0"/>
            <a:chExt cx="22710991" cy="17407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711029" cy="1740789"/>
            </a:xfrm>
            <a:custGeom>
              <a:avLst/>
              <a:gdLst/>
              <a:ahLst/>
              <a:cxnLst/>
              <a:rect r="r" b="b" t="t" l="l"/>
              <a:pathLst>
                <a:path h="1740789" w="22711029">
                  <a:moveTo>
                    <a:pt x="0" y="0"/>
                  </a:moveTo>
                  <a:lnTo>
                    <a:pt x="22711029" y="0"/>
                  </a:lnTo>
                  <a:lnTo>
                    <a:pt x="2271102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9FAF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2377440"/>
            <a:ext cx="16459200" cy="1280160"/>
            <a:chOff x="0" y="0"/>
            <a:chExt cx="21945600" cy="17068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9456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Automates the</a:t>
              </a:r>
              <a:r>
                <a:rPr lang="en-US" sz="24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ixigo train booking journey: OTP-based login, dynamic train search with source/destination/date from Excel, available seat selection, passenger details, and payment page validation.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81658" y="8422638"/>
            <a:ext cx="16941803" cy="1671323"/>
            <a:chOff x="0" y="0"/>
            <a:chExt cx="22589071" cy="2228431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5398351" cy="2228431"/>
              <a:chOff x="0" y="0"/>
              <a:chExt cx="5398351" cy="2228431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16929" y="16929"/>
              <a:ext cx="5364480" cy="1267968"/>
              <a:chOff x="0" y="0"/>
              <a:chExt cx="5364480" cy="1267968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973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16929" y="1236129"/>
              <a:ext cx="5364480" cy="682752"/>
              <a:chOff x="0" y="0"/>
              <a:chExt cx="5364480" cy="68275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Total Tests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5730240" y="0"/>
              <a:ext cx="5398351" cy="2228431"/>
              <a:chOff x="0" y="0"/>
              <a:chExt cx="5398351" cy="2228431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5747169" y="16929"/>
              <a:ext cx="5364480" cy="1267968"/>
              <a:chOff x="0" y="0"/>
              <a:chExt cx="5364480" cy="1267968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973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5747169" y="1236129"/>
              <a:ext cx="5364480" cy="682752"/>
              <a:chOff x="0" y="0"/>
              <a:chExt cx="5364480" cy="682752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Passed</a:t>
                </a: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11460480" y="0"/>
              <a:ext cx="5398351" cy="2228431"/>
              <a:chOff x="0" y="0"/>
              <a:chExt cx="5398351" cy="2228431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11477409" y="16929"/>
              <a:ext cx="5364480" cy="1267968"/>
              <a:chOff x="0" y="0"/>
              <a:chExt cx="5364480" cy="1267968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973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0</a:t>
                </a: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11477409" y="1236129"/>
              <a:ext cx="5364480" cy="682752"/>
              <a:chOff x="0" y="0"/>
              <a:chExt cx="5364480" cy="682752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Failed</a:t>
                </a: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17190720" y="0"/>
              <a:ext cx="5398351" cy="2228431"/>
              <a:chOff x="0" y="0"/>
              <a:chExt cx="5398351" cy="2228431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97316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57" id="57"/>
            <p:cNvGrpSpPr/>
            <p:nvPr/>
          </p:nvGrpSpPr>
          <p:grpSpPr>
            <a:xfrm rot="0">
              <a:off x="17207649" y="16929"/>
              <a:ext cx="5364480" cy="1267968"/>
              <a:chOff x="0" y="0"/>
              <a:chExt cx="5364480" cy="1267968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100%</a:t>
                </a: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17207649" y="1236129"/>
              <a:ext cx="5364480" cy="682752"/>
              <a:chOff x="0" y="0"/>
              <a:chExt cx="5364480" cy="682752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Accuracy</a:t>
                </a:r>
              </a:p>
            </p:txBody>
          </p:sp>
        </p:grpSp>
      </p:grpSp>
      <p:grpSp>
        <p:nvGrpSpPr>
          <p:cNvPr name="Group 63" id="63"/>
          <p:cNvGrpSpPr/>
          <p:nvPr/>
        </p:nvGrpSpPr>
        <p:grpSpPr>
          <a:xfrm rot="0">
            <a:off x="9411368" y="3679831"/>
            <a:ext cx="8235918" cy="4368044"/>
            <a:chOff x="0" y="0"/>
            <a:chExt cx="10981225" cy="5824059"/>
          </a:xfrm>
        </p:grpSpPr>
        <p:sp>
          <p:nvSpPr>
            <p:cNvPr name="Freeform 64" id="64"/>
            <p:cNvSpPr/>
            <p:nvPr/>
          </p:nvSpPr>
          <p:spPr>
            <a:xfrm flipH="false" flipV="false" rot="5999">
              <a:off x="288793" y="259215"/>
              <a:ext cx="10697271" cy="5574166"/>
            </a:xfrm>
            <a:custGeom>
              <a:avLst/>
              <a:gdLst/>
              <a:ahLst/>
              <a:cxnLst/>
              <a:rect r="r" b="b" t="t" l="l"/>
              <a:pathLst>
                <a:path h="5574166" w="10697271">
                  <a:moveTo>
                    <a:pt x="0" y="18654"/>
                  </a:moveTo>
                  <a:lnTo>
                    <a:pt x="10687575" y="0"/>
                  </a:lnTo>
                  <a:lnTo>
                    <a:pt x="10697272" y="5555513"/>
                  </a:lnTo>
                  <a:lnTo>
                    <a:pt x="9697" y="5574166"/>
                  </a:lnTo>
                  <a:lnTo>
                    <a:pt x="0" y="18654"/>
                  </a:lnTo>
                  <a:close/>
                </a:path>
              </a:pathLst>
            </a:custGeom>
            <a:blipFill>
              <a:blip r:embed="rId4"/>
              <a:stretch>
                <a:fillRect l="-93708" t="-63729" r="-88658" b="-28772"/>
              </a:stretch>
            </a:blip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09199" cy="5824059"/>
            </a:xfrm>
            <a:custGeom>
              <a:avLst/>
              <a:gdLst/>
              <a:ahLst/>
              <a:cxnLst/>
              <a:rect r="r" b="b" t="t" l="l"/>
              <a:pathLst>
                <a:path h="5824059" w="709199">
                  <a:moveTo>
                    <a:pt x="0" y="0"/>
                  </a:moveTo>
                  <a:lnTo>
                    <a:pt x="709199" y="0"/>
                  </a:lnTo>
                  <a:lnTo>
                    <a:pt x="709199" y="5824059"/>
                  </a:lnTo>
                  <a:lnTo>
                    <a:pt x="0" y="5824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02" t="0" r="-902" b="-496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343417" y="3670306"/>
            <a:ext cx="8235918" cy="4368044"/>
            <a:chOff x="0" y="0"/>
            <a:chExt cx="10981225" cy="5824059"/>
          </a:xfrm>
        </p:grpSpPr>
        <p:sp>
          <p:nvSpPr>
            <p:cNvPr name="Freeform 67" id="67"/>
            <p:cNvSpPr/>
            <p:nvPr/>
          </p:nvSpPr>
          <p:spPr>
            <a:xfrm flipH="false" flipV="false" rot="5999">
              <a:off x="288793" y="259215"/>
              <a:ext cx="10697271" cy="5574166"/>
            </a:xfrm>
            <a:custGeom>
              <a:avLst/>
              <a:gdLst/>
              <a:ahLst/>
              <a:cxnLst/>
              <a:rect r="r" b="b" t="t" l="l"/>
              <a:pathLst>
                <a:path h="5574166" w="10697271">
                  <a:moveTo>
                    <a:pt x="0" y="18654"/>
                  </a:moveTo>
                  <a:lnTo>
                    <a:pt x="10687575" y="0"/>
                  </a:lnTo>
                  <a:lnTo>
                    <a:pt x="10697272" y="5555513"/>
                  </a:lnTo>
                  <a:lnTo>
                    <a:pt x="9697" y="5574166"/>
                  </a:lnTo>
                  <a:lnTo>
                    <a:pt x="0" y="18654"/>
                  </a:lnTo>
                  <a:close/>
                </a:path>
              </a:pathLst>
            </a:custGeom>
            <a:blipFill>
              <a:blip r:embed="rId4"/>
              <a:stretch>
                <a:fillRect l="-93708" t="-63729" r="-88658" b="-28772"/>
              </a:stretch>
            </a:blip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09199" cy="5824059"/>
            </a:xfrm>
            <a:custGeom>
              <a:avLst/>
              <a:gdLst/>
              <a:ahLst/>
              <a:cxnLst/>
              <a:rect r="r" b="b" t="t" l="l"/>
              <a:pathLst>
                <a:path h="5824059" w="709199">
                  <a:moveTo>
                    <a:pt x="0" y="0"/>
                  </a:moveTo>
                  <a:lnTo>
                    <a:pt x="709199" y="0"/>
                  </a:lnTo>
                  <a:lnTo>
                    <a:pt x="709199" y="5824059"/>
                  </a:lnTo>
                  <a:lnTo>
                    <a:pt x="0" y="5824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02" t="0" r="-902" b="-4960"/>
              </a:stretch>
            </a:blipFill>
          </p:spPr>
        </p:sp>
      </p:grpSp>
      <p:pic>
        <p:nvPicPr>
          <p:cNvPr name="Picture 69" id="6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63728" y="4131061"/>
            <a:ext cx="329944" cy="329745"/>
          </a:xfrm>
          <a:prstGeom prst="rect">
            <a:avLst/>
          </a:prstGeom>
        </p:spPr>
      </p:pic>
      <p:sp>
        <p:nvSpPr>
          <p:cNvPr name="Freeform 70" id="70"/>
          <p:cNvSpPr/>
          <p:nvPr/>
        </p:nvSpPr>
        <p:spPr>
          <a:xfrm flipH="false" flipV="false" rot="0">
            <a:off x="10018646" y="4158556"/>
            <a:ext cx="323622" cy="323622"/>
          </a:xfrm>
          <a:custGeom>
            <a:avLst/>
            <a:gdLst/>
            <a:ahLst/>
            <a:cxnLst/>
            <a:rect r="r" b="b" t="t" l="l"/>
            <a:pathLst>
              <a:path h="323622" w="323622">
                <a:moveTo>
                  <a:pt x="0" y="0"/>
                </a:moveTo>
                <a:lnTo>
                  <a:pt x="323621" y="0"/>
                </a:lnTo>
                <a:lnTo>
                  <a:pt x="323621" y="323622"/>
                </a:lnTo>
                <a:lnTo>
                  <a:pt x="0" y="3236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1235369" y="4147559"/>
            <a:ext cx="270829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8"/>
              </a:lnSpc>
            </a:pPr>
            <a:r>
              <a:rPr lang="en-US" sz="1915" spc="-38" b="true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Positive Tests Executed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458145" y="4117981"/>
            <a:ext cx="295354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spc="-38" b="true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Negative Tests Executed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216319" y="4860931"/>
            <a:ext cx="7353492" cy="3005638"/>
            <a:chOff x="0" y="0"/>
            <a:chExt cx="9804655" cy="4007517"/>
          </a:xfrm>
        </p:grpSpPr>
        <p:sp>
          <p:nvSpPr>
            <p:cNvPr name="TextBox 74" id="74"/>
            <p:cNvSpPr txBox="true"/>
            <p:nvPr/>
          </p:nvSpPr>
          <p:spPr>
            <a:xfrm rot="0">
              <a:off x="0" y="-38100"/>
              <a:ext cx="9779255" cy="720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0"/>
                </a:lnSpc>
              </a:pP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Valid Login: </a:t>
              </a:r>
              <a:r>
                <a:rPr lang="en-US" sz="1593">
                  <a:solidFill>
                    <a:srgbClr val="050A30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Automated handling of OTP-based login verification.</a:t>
              </a:r>
            </a:p>
            <a:p>
              <a:pPr algn="l">
                <a:lnSpc>
                  <a:spcPts val="2230"/>
                </a:lnSpc>
              </a:pP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0" y="850900"/>
              <a:ext cx="9779255" cy="720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0"/>
                </a:lnSpc>
              </a:pP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Train</a:t>
              </a: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 Search:</a:t>
              </a:r>
              <a:r>
                <a:rPr lang="en-US" sz="1593">
                  <a:solidFill>
                    <a:srgbClr val="050A30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 Validated dynamic station and travel date search inputs.</a:t>
              </a:r>
            </a:p>
            <a:p>
              <a:pPr algn="l">
                <a:lnSpc>
                  <a:spcPts val="2230"/>
                </a:lnSpc>
              </a:pPr>
            </a:p>
          </p:txBody>
        </p:sp>
        <p:sp>
          <p:nvSpPr>
            <p:cNvPr name="TextBox 76" id="76"/>
            <p:cNvSpPr txBox="true"/>
            <p:nvPr/>
          </p:nvSpPr>
          <p:spPr>
            <a:xfrm rot="0">
              <a:off x="25400" y="1621402"/>
              <a:ext cx="9779255" cy="352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0"/>
                </a:lnSpc>
              </a:pP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Seat</a:t>
              </a: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 Booking: </a:t>
              </a:r>
              <a:r>
                <a:rPr lang="en-US" sz="1593">
                  <a:solidFill>
                    <a:srgbClr val="050A30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Automated the selection of available train seats.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0" y="2550172"/>
              <a:ext cx="9243946" cy="1457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0"/>
                </a:lnSpc>
              </a:pP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Passenger Flow &amp; Payment Flow: </a:t>
              </a:r>
              <a:r>
                <a:rPr lang="en-US" sz="1593">
                  <a:solidFill>
                    <a:srgbClr val="050A30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Verified the end-to-end journey to the payment confirmation page.</a:t>
              </a:r>
            </a:p>
            <a:p>
              <a:pPr algn="l">
                <a:lnSpc>
                  <a:spcPts val="2230"/>
                </a:lnSpc>
              </a:pPr>
            </a:p>
            <a:p>
              <a:pPr algn="l">
                <a:lnSpc>
                  <a:spcPts val="2230"/>
                </a:lnSpc>
              </a:pP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-761900" y="4165606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-761900" y="4832356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-761900" y="5420540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-761900" y="6127756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0517791" y="4899031"/>
            <a:ext cx="6023073" cy="257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b="true" sz="1644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Invalid St</a:t>
            </a:r>
            <a:r>
              <a:rPr lang="en-US" b="true" sz="1644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ation: </a:t>
            </a:r>
            <a:r>
              <a:rPr lang="en-US" sz="1644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Ensured the booking process stops with invalid station data.</a:t>
            </a:r>
          </a:p>
          <a:p>
            <a:pPr algn="l">
              <a:lnSpc>
                <a:spcPts val="2301"/>
              </a:lnSpc>
            </a:pPr>
          </a:p>
          <a:p>
            <a:pPr algn="l">
              <a:lnSpc>
                <a:spcPts val="2301"/>
              </a:lnSpc>
            </a:pPr>
            <a:r>
              <a:rPr lang="en-US" b="true" sz="1644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Empty Passenger</a:t>
            </a:r>
            <a:r>
              <a:rPr lang="en-US" b="true" sz="1644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:</a:t>
            </a:r>
            <a:r>
              <a:rPr lang="en-US" sz="1644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 Verified the system blocks saving passenger details without a name.</a:t>
            </a:r>
          </a:p>
          <a:p>
            <a:pPr algn="l">
              <a:lnSpc>
                <a:spcPts val="2301"/>
              </a:lnSpc>
            </a:pPr>
          </a:p>
          <a:p>
            <a:pPr algn="l">
              <a:lnSpc>
                <a:spcPts val="2301"/>
              </a:lnSpc>
            </a:pPr>
          </a:p>
          <a:p>
            <a:pPr algn="l">
              <a:lnSpc>
                <a:spcPts val="2301"/>
              </a:lnSpc>
            </a:pPr>
          </a:p>
          <a:p>
            <a:pPr algn="l">
              <a:lnSpc>
                <a:spcPts val="2301"/>
              </a:lnSpc>
            </a:pPr>
          </a:p>
        </p:txBody>
      </p:sp>
      <p:sp>
        <p:nvSpPr>
          <p:cNvPr name="TextBox 83" id="83"/>
          <p:cNvSpPr txBox="true"/>
          <p:nvPr/>
        </p:nvSpPr>
        <p:spPr>
          <a:xfrm rot="0">
            <a:off x="8389856" y="4232281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399381" y="5139403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44859"/>
            <a:chOff x="0" y="0"/>
            <a:chExt cx="24417871" cy="32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27383" y="444503"/>
            <a:ext cx="939803" cy="939803"/>
            <a:chOff x="0" y="0"/>
            <a:chExt cx="1253071" cy="1253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457200"/>
            <a:ext cx="914400" cy="914400"/>
            <a:chOff x="0" y="0"/>
            <a:chExt cx="1219200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28800" y="402336"/>
            <a:ext cx="10972800" cy="797272"/>
            <a:chOff x="0" y="0"/>
            <a:chExt cx="14630400" cy="10630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1063030"/>
            </a:xfrm>
            <a:custGeom>
              <a:avLst/>
              <a:gdLst/>
              <a:ahLst/>
              <a:cxnLst/>
              <a:rect r="r" b="b" t="t" l="l"/>
              <a:pathLst>
                <a:path h="106303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029" r="0" b="-2083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4630400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Trisha Nandi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28800" y="1042416"/>
            <a:ext cx="11887200" cy="475488"/>
            <a:chOff x="0" y="0"/>
            <a:chExt cx="15849600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849600" cy="633984"/>
            </a:xfrm>
            <a:custGeom>
              <a:avLst/>
              <a:gdLst/>
              <a:ahLst/>
              <a:cxnLst/>
              <a:rect r="r" b="b" t="t" l="l"/>
              <a:pathLst>
                <a:path h="633984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5849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Van</a:t>
              </a:r>
              <a:r>
                <a:rPr lang="en-US" sz="22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 Bharat Express Train Booking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251943" y="499367"/>
            <a:ext cx="3683003" cy="793499"/>
            <a:chOff x="0" y="0"/>
            <a:chExt cx="4910671" cy="10579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10709" cy="1058037"/>
            </a:xfrm>
            <a:custGeom>
              <a:avLst/>
              <a:gdLst/>
              <a:ahLst/>
              <a:cxnLst/>
              <a:rect r="r" b="b" t="t" l="l"/>
              <a:pathLst>
                <a:path h="1058037" w="4910709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709160" y="0"/>
                  </a:lnTo>
                  <a:cubicBezTo>
                    <a:pt x="4820412" y="0"/>
                    <a:pt x="4910709" y="90170"/>
                    <a:pt x="4910709" y="201549"/>
                  </a:cubicBezTo>
                  <a:lnTo>
                    <a:pt x="4910709" y="856488"/>
                  </a:lnTo>
                  <a:cubicBezTo>
                    <a:pt x="4910709" y="967740"/>
                    <a:pt x="4820539" y="1058037"/>
                    <a:pt x="4709160" y="1058037"/>
                  </a:cubicBezTo>
                  <a:lnTo>
                    <a:pt x="201549" y="1058037"/>
                  </a:lnTo>
                  <a:cubicBezTo>
                    <a:pt x="90170" y="1058037"/>
                    <a:pt x="0" y="967740"/>
                    <a:pt x="0" y="856488"/>
                  </a:cubicBezTo>
                  <a:close/>
                </a:path>
              </a:pathLst>
            </a:custGeom>
            <a:solidFill>
              <a:srgbClr val="FFF7ED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264640" y="512064"/>
            <a:ext cx="3657600" cy="768096"/>
            <a:chOff x="0" y="0"/>
            <a:chExt cx="487680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8768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Selenium PyTest + BDD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7383" y="1633223"/>
            <a:ext cx="17033243" cy="25403"/>
            <a:chOff x="0" y="0"/>
            <a:chExt cx="22710991" cy="338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711029" cy="33909"/>
            </a:xfrm>
            <a:custGeom>
              <a:avLst/>
              <a:gdLst/>
              <a:ahLst/>
              <a:cxnLst/>
              <a:rect r="r" b="b" t="t" l="l"/>
              <a:pathLst>
                <a:path h="33909" w="22711029">
                  <a:moveTo>
                    <a:pt x="0" y="0"/>
                  </a:moveTo>
                  <a:lnTo>
                    <a:pt x="22711029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3000411" r="0" b="-13000299"/>
              </a:stretch>
            </a:blip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40080" y="1828800"/>
            <a:ext cx="16459200" cy="457200"/>
            <a:chOff x="0" y="0"/>
            <a:chExt cx="21945600" cy="609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1945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40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OVERVIEW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7383" y="2364743"/>
            <a:ext cx="17033243" cy="1305563"/>
            <a:chOff x="0" y="0"/>
            <a:chExt cx="22710991" cy="17407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711029" cy="1740789"/>
            </a:xfrm>
            <a:custGeom>
              <a:avLst/>
              <a:gdLst/>
              <a:ahLst/>
              <a:cxnLst/>
              <a:rect r="r" b="b" t="t" l="l"/>
              <a:pathLst>
                <a:path h="1740789" w="22711029">
                  <a:moveTo>
                    <a:pt x="0" y="0"/>
                  </a:moveTo>
                  <a:lnTo>
                    <a:pt x="22711029" y="0"/>
                  </a:lnTo>
                  <a:lnTo>
                    <a:pt x="2271102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9FAF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2377440"/>
            <a:ext cx="16459200" cy="1280160"/>
            <a:chOff x="0" y="0"/>
            <a:chExt cx="21945600" cy="17068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9456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Automates the ixigo train</a:t>
              </a:r>
              <a:r>
                <a:rPr lang="en-US" sz="24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booking journey: OTP-based login, direct navigation to filter Vande Bharat Express routes, future calendar date and seat inventory selection, dynamic passenger details injection from Excel, and secure payment page layout validation.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411368" y="3679831"/>
            <a:ext cx="8235918" cy="4368044"/>
            <a:chOff x="0" y="0"/>
            <a:chExt cx="10981225" cy="5824059"/>
          </a:xfrm>
        </p:grpSpPr>
        <p:sp>
          <p:nvSpPr>
            <p:cNvPr name="Freeform 31" id="31"/>
            <p:cNvSpPr/>
            <p:nvPr/>
          </p:nvSpPr>
          <p:spPr>
            <a:xfrm flipH="false" flipV="false" rot="5999">
              <a:off x="288793" y="259215"/>
              <a:ext cx="10697271" cy="5574166"/>
            </a:xfrm>
            <a:custGeom>
              <a:avLst/>
              <a:gdLst/>
              <a:ahLst/>
              <a:cxnLst/>
              <a:rect r="r" b="b" t="t" l="l"/>
              <a:pathLst>
                <a:path h="5574166" w="10697271">
                  <a:moveTo>
                    <a:pt x="0" y="18654"/>
                  </a:moveTo>
                  <a:lnTo>
                    <a:pt x="10687575" y="0"/>
                  </a:lnTo>
                  <a:lnTo>
                    <a:pt x="10697272" y="5555513"/>
                  </a:lnTo>
                  <a:lnTo>
                    <a:pt x="9697" y="5574166"/>
                  </a:lnTo>
                  <a:lnTo>
                    <a:pt x="0" y="18654"/>
                  </a:lnTo>
                  <a:close/>
                </a:path>
              </a:pathLst>
            </a:custGeom>
            <a:blipFill>
              <a:blip r:embed="rId4"/>
              <a:stretch>
                <a:fillRect l="-93708" t="-63729" r="-88658" b="-28772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9199" cy="5824059"/>
            </a:xfrm>
            <a:custGeom>
              <a:avLst/>
              <a:gdLst/>
              <a:ahLst/>
              <a:cxnLst/>
              <a:rect r="r" b="b" t="t" l="l"/>
              <a:pathLst>
                <a:path h="5824059" w="709199">
                  <a:moveTo>
                    <a:pt x="0" y="0"/>
                  </a:moveTo>
                  <a:lnTo>
                    <a:pt x="709199" y="0"/>
                  </a:lnTo>
                  <a:lnTo>
                    <a:pt x="709199" y="5824059"/>
                  </a:lnTo>
                  <a:lnTo>
                    <a:pt x="0" y="5824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02" t="0" r="-902" b="-496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43417" y="3670306"/>
            <a:ext cx="8235918" cy="4368044"/>
            <a:chOff x="0" y="0"/>
            <a:chExt cx="10981225" cy="5824059"/>
          </a:xfrm>
        </p:grpSpPr>
        <p:sp>
          <p:nvSpPr>
            <p:cNvPr name="Freeform 34" id="34"/>
            <p:cNvSpPr/>
            <p:nvPr/>
          </p:nvSpPr>
          <p:spPr>
            <a:xfrm flipH="false" flipV="false" rot="5999">
              <a:off x="288793" y="259215"/>
              <a:ext cx="10697271" cy="5574166"/>
            </a:xfrm>
            <a:custGeom>
              <a:avLst/>
              <a:gdLst/>
              <a:ahLst/>
              <a:cxnLst/>
              <a:rect r="r" b="b" t="t" l="l"/>
              <a:pathLst>
                <a:path h="5574166" w="10697271">
                  <a:moveTo>
                    <a:pt x="0" y="18654"/>
                  </a:moveTo>
                  <a:lnTo>
                    <a:pt x="10687575" y="0"/>
                  </a:lnTo>
                  <a:lnTo>
                    <a:pt x="10697272" y="5555513"/>
                  </a:lnTo>
                  <a:lnTo>
                    <a:pt x="9697" y="5574166"/>
                  </a:lnTo>
                  <a:lnTo>
                    <a:pt x="0" y="18654"/>
                  </a:lnTo>
                  <a:close/>
                </a:path>
              </a:pathLst>
            </a:custGeom>
            <a:blipFill>
              <a:blip r:embed="rId4"/>
              <a:stretch>
                <a:fillRect l="-93708" t="-63729" r="-88658" b="-28772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9199" cy="5824059"/>
            </a:xfrm>
            <a:custGeom>
              <a:avLst/>
              <a:gdLst/>
              <a:ahLst/>
              <a:cxnLst/>
              <a:rect r="r" b="b" t="t" l="l"/>
              <a:pathLst>
                <a:path h="5824059" w="709199">
                  <a:moveTo>
                    <a:pt x="0" y="0"/>
                  </a:moveTo>
                  <a:lnTo>
                    <a:pt x="709199" y="0"/>
                  </a:lnTo>
                  <a:lnTo>
                    <a:pt x="709199" y="5824059"/>
                  </a:lnTo>
                  <a:lnTo>
                    <a:pt x="0" y="5824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02" t="0" r="-902" b="-4960"/>
              </a:stretch>
            </a:blipFill>
          </p:spPr>
        </p:sp>
      </p:grpSp>
      <p:pic>
        <p:nvPicPr>
          <p:cNvPr name="Picture 36" id="3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63728" y="4131061"/>
            <a:ext cx="329944" cy="329745"/>
          </a:xfrm>
          <a:prstGeom prst="rect">
            <a:avLst/>
          </a:prstGeom>
        </p:spPr>
      </p:pic>
      <p:sp>
        <p:nvSpPr>
          <p:cNvPr name="Freeform 37" id="37"/>
          <p:cNvSpPr/>
          <p:nvPr/>
        </p:nvSpPr>
        <p:spPr>
          <a:xfrm flipH="false" flipV="false" rot="0">
            <a:off x="10018646" y="4158556"/>
            <a:ext cx="323622" cy="323622"/>
          </a:xfrm>
          <a:custGeom>
            <a:avLst/>
            <a:gdLst/>
            <a:ahLst/>
            <a:cxnLst/>
            <a:rect r="r" b="b" t="t" l="l"/>
            <a:pathLst>
              <a:path h="323622" w="323622">
                <a:moveTo>
                  <a:pt x="0" y="0"/>
                </a:moveTo>
                <a:lnTo>
                  <a:pt x="323621" y="0"/>
                </a:lnTo>
                <a:lnTo>
                  <a:pt x="323621" y="323622"/>
                </a:lnTo>
                <a:lnTo>
                  <a:pt x="0" y="3236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235369" y="4147559"/>
            <a:ext cx="270829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8"/>
              </a:lnSpc>
            </a:pPr>
            <a:r>
              <a:rPr lang="en-US" sz="1915" spc="-38" b="true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Positive Tests Executed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458145" y="4117981"/>
            <a:ext cx="295354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spc="-38" b="true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Negative Tests Executed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16319" y="4860931"/>
            <a:ext cx="7334442" cy="1691578"/>
            <a:chOff x="0" y="0"/>
            <a:chExt cx="9779255" cy="2255438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0" y="-38100"/>
              <a:ext cx="9779255" cy="352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0"/>
                </a:lnSpc>
              </a:pP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L</a:t>
              </a: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ogin Button: </a:t>
              </a:r>
              <a:r>
                <a:rPr lang="en-US" sz="1593">
                  <a:solidFill>
                    <a:srgbClr val="050A30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Login button visible successfully.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1902993"/>
              <a:ext cx="9779255" cy="352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0"/>
                </a:lnSpc>
              </a:pP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C</a:t>
              </a:r>
              <a:r>
                <a:rPr lang="en-US" b="true" sz="1593">
                  <a:solidFill>
                    <a:srgbClr val="050A30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ontinue Button: </a:t>
              </a:r>
              <a:r>
                <a:rPr lang="en-US" sz="1593">
                  <a:solidFill>
                    <a:srgbClr val="050A30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Continue button works properly.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216319" y="7020740"/>
            <a:ext cx="6932960" cy="27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Co</a:t>
            </a: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mplete Login Flow: </a:t>
            </a:r>
            <a:r>
              <a:rPr lang="en-US" sz="1593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Login completed successfully.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16319" y="5565781"/>
            <a:ext cx="7334442" cy="27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Valid Mob</a:t>
            </a: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ile Number Entry:</a:t>
            </a:r>
            <a:r>
              <a:rPr lang="en-US" sz="1593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 Mobile number accepted successfully.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-761900" y="4165606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-761900" y="4897168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-761900" y="5680081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-761900" y="6382565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389856" y="4232281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389856" y="5110828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581658" y="8422638"/>
            <a:ext cx="16941803" cy="1671323"/>
            <a:chOff x="0" y="0"/>
            <a:chExt cx="22589071" cy="2228431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5398351" cy="2228431"/>
              <a:chOff x="0" y="0"/>
              <a:chExt cx="5398351" cy="2228431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16929" y="16929"/>
              <a:ext cx="5364480" cy="1267968"/>
              <a:chOff x="0" y="0"/>
              <a:chExt cx="5364480" cy="1267968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973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6929" y="1236129"/>
              <a:ext cx="5364480" cy="682752"/>
              <a:chOff x="0" y="0"/>
              <a:chExt cx="5364480" cy="682752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Total Tests</a:t>
                </a: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5730240" y="0"/>
              <a:ext cx="5398351" cy="2228431"/>
              <a:chOff x="0" y="0"/>
              <a:chExt cx="5398351" cy="2228431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62" id="62"/>
            <p:cNvGrpSpPr/>
            <p:nvPr/>
          </p:nvGrpSpPr>
          <p:grpSpPr>
            <a:xfrm rot="0">
              <a:off x="5747169" y="16929"/>
              <a:ext cx="5364480" cy="1267968"/>
              <a:chOff x="0" y="0"/>
              <a:chExt cx="5364480" cy="1267968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973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5747169" y="1236129"/>
              <a:ext cx="5364480" cy="682752"/>
              <a:chOff x="0" y="0"/>
              <a:chExt cx="5364480" cy="682752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Passed</a:t>
                </a: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11460480" y="0"/>
              <a:ext cx="5398351" cy="2228431"/>
              <a:chOff x="0" y="0"/>
              <a:chExt cx="5398351" cy="2228431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70" id="70"/>
            <p:cNvGrpSpPr/>
            <p:nvPr/>
          </p:nvGrpSpPr>
          <p:grpSpPr>
            <a:xfrm rot="0">
              <a:off x="11477409" y="16929"/>
              <a:ext cx="5364480" cy="1267968"/>
              <a:chOff x="0" y="0"/>
              <a:chExt cx="5364480" cy="1267968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973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0</a:t>
                </a: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11477409" y="1236129"/>
              <a:ext cx="5364480" cy="682752"/>
              <a:chOff x="0" y="0"/>
              <a:chExt cx="5364480" cy="682752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Failed</a:t>
                </a: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17190720" y="0"/>
              <a:ext cx="5398351" cy="2228431"/>
              <a:chOff x="0" y="0"/>
              <a:chExt cx="5398351" cy="2228431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97316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17207649" y="16929"/>
              <a:ext cx="5364480" cy="1267968"/>
              <a:chOff x="0" y="0"/>
              <a:chExt cx="5364480" cy="1267968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100%</a:t>
                </a:r>
              </a:p>
            </p:txBody>
          </p:sp>
        </p:grpSp>
        <p:grpSp>
          <p:nvGrpSpPr>
            <p:cNvPr name="Group 81" id="81"/>
            <p:cNvGrpSpPr/>
            <p:nvPr/>
          </p:nvGrpSpPr>
          <p:grpSpPr>
            <a:xfrm rot="0">
              <a:off x="17207649" y="1236129"/>
              <a:ext cx="5364480" cy="682752"/>
              <a:chOff x="0" y="0"/>
              <a:chExt cx="5364480" cy="682752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Accuracy</a:t>
                </a:r>
              </a:p>
            </p:txBody>
          </p:sp>
        </p:grpSp>
      </p:grpSp>
      <p:sp>
        <p:nvSpPr>
          <p:cNvPr name="TextBox 84" id="84"/>
          <p:cNvSpPr txBox="true"/>
          <p:nvPr/>
        </p:nvSpPr>
        <p:spPr>
          <a:xfrm rot="0">
            <a:off x="10517791" y="4851406"/>
            <a:ext cx="6023077" cy="257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1644" b="true">
                <a:solidFill>
                  <a:srgbClr val="050A30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Invalid Mobile Number:</a:t>
            </a:r>
            <a:r>
              <a:rPr lang="en-US" sz="1644">
                <a:solidFill>
                  <a:srgbClr val="050A30"/>
                </a:solidFill>
                <a:latin typeface="Public Sans 2"/>
                <a:ea typeface="Public Sans 2"/>
                <a:cs typeface="Public Sans 2"/>
                <a:sym typeface="Public Sans 2"/>
              </a:rPr>
              <a:t> Message displayed for invalid mobile number.</a:t>
            </a:r>
          </a:p>
          <a:p>
            <a:pPr algn="l">
              <a:lnSpc>
                <a:spcPts val="2301"/>
              </a:lnSpc>
            </a:pPr>
          </a:p>
          <a:p>
            <a:pPr algn="l">
              <a:lnSpc>
                <a:spcPts val="2301"/>
              </a:lnSpc>
            </a:pPr>
            <a:r>
              <a:rPr lang="en-US" sz="1644" b="true">
                <a:solidFill>
                  <a:srgbClr val="050A30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Empty Mobile Number:</a:t>
            </a:r>
            <a:r>
              <a:rPr lang="en-US" sz="1644">
                <a:solidFill>
                  <a:srgbClr val="050A30"/>
                </a:solidFill>
                <a:latin typeface="Public Sans 2"/>
                <a:ea typeface="Public Sans 2"/>
                <a:cs typeface="Public Sans 2"/>
                <a:sym typeface="Public Sans 2"/>
              </a:rPr>
              <a:t> Ensured validation triggers when the mobile number field is left empty.</a:t>
            </a:r>
          </a:p>
          <a:p>
            <a:pPr algn="l">
              <a:lnSpc>
                <a:spcPts val="2301"/>
              </a:lnSpc>
            </a:pPr>
          </a:p>
          <a:p>
            <a:pPr algn="l">
              <a:lnSpc>
                <a:spcPts val="2301"/>
              </a:lnSpc>
            </a:pPr>
          </a:p>
          <a:p>
            <a:pPr algn="l">
              <a:lnSpc>
                <a:spcPts val="2301"/>
              </a:lnSpc>
            </a:pPr>
          </a:p>
          <a:p>
            <a:pPr algn="l">
              <a:lnSpc>
                <a:spcPts val="2301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44859"/>
            <a:chOff x="0" y="0"/>
            <a:chExt cx="24417871" cy="32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27383" y="444503"/>
            <a:ext cx="939803" cy="939803"/>
            <a:chOff x="0" y="0"/>
            <a:chExt cx="1253071" cy="1253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457200"/>
            <a:ext cx="914400" cy="914400"/>
            <a:chOff x="0" y="0"/>
            <a:chExt cx="1219200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28800" y="402336"/>
            <a:ext cx="10972800" cy="797272"/>
            <a:chOff x="0" y="0"/>
            <a:chExt cx="14630400" cy="10630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1063030"/>
            </a:xfrm>
            <a:custGeom>
              <a:avLst/>
              <a:gdLst/>
              <a:ahLst/>
              <a:cxnLst/>
              <a:rect r="r" b="b" t="t" l="l"/>
              <a:pathLst>
                <a:path h="106303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029" r="0" b="-2083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4630400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Pramithi Pal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28800" y="1042416"/>
            <a:ext cx="11887200" cy="475488"/>
            <a:chOff x="0" y="0"/>
            <a:chExt cx="15849600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849600" cy="633984"/>
            </a:xfrm>
            <a:custGeom>
              <a:avLst/>
              <a:gdLst/>
              <a:ahLst/>
              <a:cxnLst/>
              <a:rect r="r" b="b" t="t" l="l"/>
              <a:pathLst>
                <a:path h="633984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5849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Ixig</a:t>
              </a:r>
              <a:r>
                <a:rPr lang="en-US" sz="22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Bus Booking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251943" y="499367"/>
            <a:ext cx="3683003" cy="793499"/>
            <a:chOff x="0" y="0"/>
            <a:chExt cx="4910671" cy="10579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10709" cy="1058037"/>
            </a:xfrm>
            <a:custGeom>
              <a:avLst/>
              <a:gdLst/>
              <a:ahLst/>
              <a:cxnLst/>
              <a:rect r="r" b="b" t="t" l="l"/>
              <a:pathLst>
                <a:path h="1058037" w="4910709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709160" y="0"/>
                  </a:lnTo>
                  <a:cubicBezTo>
                    <a:pt x="4820412" y="0"/>
                    <a:pt x="4910709" y="90170"/>
                    <a:pt x="4910709" y="201549"/>
                  </a:cubicBezTo>
                  <a:lnTo>
                    <a:pt x="4910709" y="856488"/>
                  </a:lnTo>
                  <a:cubicBezTo>
                    <a:pt x="4910709" y="967740"/>
                    <a:pt x="4820539" y="1058037"/>
                    <a:pt x="4709160" y="1058037"/>
                  </a:cubicBezTo>
                  <a:lnTo>
                    <a:pt x="201549" y="1058037"/>
                  </a:lnTo>
                  <a:cubicBezTo>
                    <a:pt x="90170" y="1058037"/>
                    <a:pt x="0" y="967740"/>
                    <a:pt x="0" y="856488"/>
                  </a:cubicBezTo>
                  <a:close/>
                </a:path>
              </a:pathLst>
            </a:custGeom>
            <a:solidFill>
              <a:srgbClr val="FFF7ED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264640" y="512064"/>
            <a:ext cx="3657600" cy="768096"/>
            <a:chOff x="0" y="0"/>
            <a:chExt cx="487680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8768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Selenium PyTest + BDD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7383" y="1633223"/>
            <a:ext cx="17033243" cy="25403"/>
            <a:chOff x="0" y="0"/>
            <a:chExt cx="22710991" cy="338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711029" cy="33909"/>
            </a:xfrm>
            <a:custGeom>
              <a:avLst/>
              <a:gdLst/>
              <a:ahLst/>
              <a:cxnLst/>
              <a:rect r="r" b="b" t="t" l="l"/>
              <a:pathLst>
                <a:path h="33909" w="22711029">
                  <a:moveTo>
                    <a:pt x="0" y="0"/>
                  </a:moveTo>
                  <a:lnTo>
                    <a:pt x="22711029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3000411" r="0" b="-13000299"/>
              </a:stretch>
            </a:blip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40080" y="1828800"/>
            <a:ext cx="16459200" cy="457200"/>
            <a:chOff x="0" y="0"/>
            <a:chExt cx="21945600" cy="609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1945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40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OVERVIEW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7383" y="2364743"/>
            <a:ext cx="17033243" cy="1305563"/>
            <a:chOff x="0" y="0"/>
            <a:chExt cx="22710991" cy="17407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711029" cy="1740789"/>
            </a:xfrm>
            <a:custGeom>
              <a:avLst/>
              <a:gdLst/>
              <a:ahLst/>
              <a:cxnLst/>
              <a:rect r="r" b="b" t="t" l="l"/>
              <a:pathLst>
                <a:path h="1740789" w="22711029">
                  <a:moveTo>
                    <a:pt x="0" y="0"/>
                  </a:moveTo>
                  <a:lnTo>
                    <a:pt x="22711029" y="0"/>
                  </a:lnTo>
                  <a:lnTo>
                    <a:pt x="2271102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9FAF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2377440"/>
            <a:ext cx="16459200" cy="1280160"/>
            <a:chOff x="0" y="0"/>
            <a:chExt cx="21945600" cy="17068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9456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Automates the</a:t>
              </a:r>
              <a:r>
                <a:rPr lang="en-US" sz="24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ixigo Buses module: login, bus navigation, source/destination entry, travel date selection, bus search, filter application, seat selection, passenger details, and payment page verification.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411368" y="3679831"/>
            <a:ext cx="8235918" cy="4368044"/>
            <a:chOff x="0" y="0"/>
            <a:chExt cx="10981225" cy="5824059"/>
          </a:xfrm>
        </p:grpSpPr>
        <p:sp>
          <p:nvSpPr>
            <p:cNvPr name="Freeform 31" id="31"/>
            <p:cNvSpPr/>
            <p:nvPr/>
          </p:nvSpPr>
          <p:spPr>
            <a:xfrm flipH="false" flipV="false" rot="5999">
              <a:off x="288793" y="259215"/>
              <a:ext cx="10697271" cy="5574166"/>
            </a:xfrm>
            <a:custGeom>
              <a:avLst/>
              <a:gdLst/>
              <a:ahLst/>
              <a:cxnLst/>
              <a:rect r="r" b="b" t="t" l="l"/>
              <a:pathLst>
                <a:path h="5574166" w="10697271">
                  <a:moveTo>
                    <a:pt x="0" y="18654"/>
                  </a:moveTo>
                  <a:lnTo>
                    <a:pt x="10687575" y="0"/>
                  </a:lnTo>
                  <a:lnTo>
                    <a:pt x="10697272" y="5555513"/>
                  </a:lnTo>
                  <a:lnTo>
                    <a:pt x="9697" y="5574166"/>
                  </a:lnTo>
                  <a:lnTo>
                    <a:pt x="0" y="18654"/>
                  </a:lnTo>
                  <a:close/>
                </a:path>
              </a:pathLst>
            </a:custGeom>
            <a:blipFill>
              <a:blip r:embed="rId4"/>
              <a:stretch>
                <a:fillRect l="-93708" t="-63729" r="-88658" b="-28772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9199" cy="5824059"/>
            </a:xfrm>
            <a:custGeom>
              <a:avLst/>
              <a:gdLst/>
              <a:ahLst/>
              <a:cxnLst/>
              <a:rect r="r" b="b" t="t" l="l"/>
              <a:pathLst>
                <a:path h="5824059" w="709199">
                  <a:moveTo>
                    <a:pt x="0" y="0"/>
                  </a:moveTo>
                  <a:lnTo>
                    <a:pt x="709199" y="0"/>
                  </a:lnTo>
                  <a:lnTo>
                    <a:pt x="709199" y="5824059"/>
                  </a:lnTo>
                  <a:lnTo>
                    <a:pt x="0" y="5824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02" t="0" r="-902" b="-496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62467" y="3670306"/>
            <a:ext cx="8235918" cy="4368044"/>
            <a:chOff x="0" y="0"/>
            <a:chExt cx="10981225" cy="5824059"/>
          </a:xfrm>
        </p:grpSpPr>
        <p:sp>
          <p:nvSpPr>
            <p:cNvPr name="Freeform 34" id="34"/>
            <p:cNvSpPr/>
            <p:nvPr/>
          </p:nvSpPr>
          <p:spPr>
            <a:xfrm flipH="false" flipV="false" rot="5999">
              <a:off x="288793" y="259215"/>
              <a:ext cx="10697271" cy="5574166"/>
            </a:xfrm>
            <a:custGeom>
              <a:avLst/>
              <a:gdLst/>
              <a:ahLst/>
              <a:cxnLst/>
              <a:rect r="r" b="b" t="t" l="l"/>
              <a:pathLst>
                <a:path h="5574166" w="10697271">
                  <a:moveTo>
                    <a:pt x="0" y="18654"/>
                  </a:moveTo>
                  <a:lnTo>
                    <a:pt x="10687575" y="0"/>
                  </a:lnTo>
                  <a:lnTo>
                    <a:pt x="10697272" y="5555513"/>
                  </a:lnTo>
                  <a:lnTo>
                    <a:pt x="9697" y="5574166"/>
                  </a:lnTo>
                  <a:lnTo>
                    <a:pt x="0" y="18654"/>
                  </a:lnTo>
                  <a:close/>
                </a:path>
              </a:pathLst>
            </a:custGeom>
            <a:blipFill>
              <a:blip r:embed="rId4"/>
              <a:stretch>
                <a:fillRect l="-93708" t="-63729" r="-88658" b="-28772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9199" cy="5824059"/>
            </a:xfrm>
            <a:custGeom>
              <a:avLst/>
              <a:gdLst/>
              <a:ahLst/>
              <a:cxnLst/>
              <a:rect r="r" b="b" t="t" l="l"/>
              <a:pathLst>
                <a:path h="5824059" w="709199">
                  <a:moveTo>
                    <a:pt x="0" y="0"/>
                  </a:moveTo>
                  <a:lnTo>
                    <a:pt x="709199" y="0"/>
                  </a:lnTo>
                  <a:lnTo>
                    <a:pt x="709199" y="5824059"/>
                  </a:lnTo>
                  <a:lnTo>
                    <a:pt x="0" y="5824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02" t="0" r="-902" b="-4960"/>
              </a:stretch>
            </a:blipFill>
          </p:spPr>
        </p:sp>
      </p:grpSp>
      <p:pic>
        <p:nvPicPr>
          <p:cNvPr name="Picture 36" id="3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63728" y="4131061"/>
            <a:ext cx="329944" cy="329745"/>
          </a:xfrm>
          <a:prstGeom prst="rect">
            <a:avLst/>
          </a:prstGeom>
        </p:spPr>
      </p:pic>
      <p:sp>
        <p:nvSpPr>
          <p:cNvPr name="Freeform 37" id="37"/>
          <p:cNvSpPr/>
          <p:nvPr/>
        </p:nvSpPr>
        <p:spPr>
          <a:xfrm flipH="false" flipV="false" rot="0">
            <a:off x="10018646" y="4158556"/>
            <a:ext cx="323622" cy="323622"/>
          </a:xfrm>
          <a:custGeom>
            <a:avLst/>
            <a:gdLst/>
            <a:ahLst/>
            <a:cxnLst/>
            <a:rect r="r" b="b" t="t" l="l"/>
            <a:pathLst>
              <a:path h="323622" w="323622">
                <a:moveTo>
                  <a:pt x="0" y="0"/>
                </a:moveTo>
                <a:lnTo>
                  <a:pt x="323621" y="0"/>
                </a:lnTo>
                <a:lnTo>
                  <a:pt x="323621" y="323622"/>
                </a:lnTo>
                <a:lnTo>
                  <a:pt x="0" y="3236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235369" y="4147559"/>
            <a:ext cx="270829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8"/>
              </a:lnSpc>
            </a:pPr>
            <a:r>
              <a:rPr lang="en-US" sz="1915" spc="-38" b="true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Positive Tests Executed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458145" y="4117981"/>
            <a:ext cx="295354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spc="-38" b="true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Negative Tests Executed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16319" y="4822831"/>
            <a:ext cx="7334442" cy="55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Bus Se</a:t>
            </a: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arch:</a:t>
            </a:r>
            <a:r>
              <a:rPr lang="en-US" sz="1593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 Validated source, destination, and travel date entry functionality.</a:t>
            </a:r>
          </a:p>
          <a:p>
            <a:pPr algn="l">
              <a:lnSpc>
                <a:spcPts val="2230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1216319" y="5368708"/>
            <a:ext cx="7334442" cy="826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Filter</a:t>
            </a: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 Selection: </a:t>
            </a:r>
            <a:r>
              <a:rPr lang="en-US" sz="1593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Verified application of AC, Sleeper, and Departure Time filters.</a:t>
            </a:r>
          </a:p>
          <a:p>
            <a:pPr algn="l">
              <a:lnSpc>
                <a:spcPts val="2230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216319" y="6190810"/>
            <a:ext cx="7334442" cy="826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Seat Sel</a:t>
            </a: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ection:</a:t>
            </a:r>
            <a:r>
              <a:rPr lang="en-US" sz="1593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  Automated navigation of the seat layout and selection of available seats.</a:t>
            </a:r>
          </a:p>
          <a:p>
            <a:pPr algn="l">
              <a:lnSpc>
                <a:spcPts val="2230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216319" y="6839765"/>
            <a:ext cx="6932960" cy="110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b="true" sz="1593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Payment Navigation: </a:t>
            </a:r>
            <a:r>
              <a:rPr lang="en-US" sz="1593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Validated passenger detail entry and proper routing to checkout.</a:t>
            </a:r>
          </a:p>
          <a:p>
            <a:pPr algn="l">
              <a:lnSpc>
                <a:spcPts val="2230"/>
              </a:lnSpc>
            </a:pPr>
          </a:p>
          <a:p>
            <a:pPr algn="l">
              <a:lnSpc>
                <a:spcPts val="2230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-761900" y="4182290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-761900" y="4738109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-761900" y="5537792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-761900" y="6184906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517791" y="4899031"/>
            <a:ext cx="6023073" cy="257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b="true" sz="1644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Inv</a:t>
            </a:r>
            <a:r>
              <a:rPr lang="en-US" b="true" sz="1644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alid City: </a:t>
            </a:r>
            <a:r>
              <a:rPr lang="en-US" sz="1644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Verified application error handling for unsupported or fake locations.</a:t>
            </a:r>
          </a:p>
          <a:p>
            <a:pPr algn="l">
              <a:lnSpc>
                <a:spcPts val="2301"/>
              </a:lnSpc>
            </a:pPr>
          </a:p>
          <a:p>
            <a:pPr algn="l">
              <a:lnSpc>
                <a:spcPts val="2301"/>
              </a:lnSpc>
            </a:pPr>
            <a:r>
              <a:rPr lang="en-US" b="true" sz="1644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No Availabili</a:t>
            </a:r>
            <a:r>
              <a:rPr lang="en-US" b="true" sz="1644">
                <a:solidFill>
                  <a:srgbClr val="050A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ty: </a:t>
            </a:r>
            <a:r>
              <a:rPr lang="en-US" sz="1644">
                <a:solidFill>
                  <a:srgbClr val="050A30"/>
                </a:solidFill>
                <a:latin typeface="Public Sans 1"/>
                <a:ea typeface="Public Sans 1"/>
                <a:cs typeface="Public Sans 1"/>
                <a:sym typeface="Public Sans 1"/>
              </a:rPr>
              <a:t>Verified that unavailable/grayed-out seats cannot be selected or booked.</a:t>
            </a:r>
          </a:p>
          <a:p>
            <a:pPr algn="l">
              <a:lnSpc>
                <a:spcPts val="2301"/>
              </a:lnSpc>
            </a:pPr>
          </a:p>
          <a:p>
            <a:pPr algn="l">
              <a:lnSpc>
                <a:spcPts val="2301"/>
              </a:lnSpc>
            </a:pPr>
          </a:p>
          <a:p>
            <a:pPr algn="l">
              <a:lnSpc>
                <a:spcPts val="2301"/>
              </a:lnSpc>
            </a:pPr>
          </a:p>
          <a:p>
            <a:pPr algn="l">
              <a:lnSpc>
                <a:spcPts val="2301"/>
              </a:lnSpc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8389856" y="4232281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399381" y="5139403"/>
            <a:ext cx="3581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  <a:spcBef>
                <a:spcPct val="0"/>
              </a:spcBef>
            </a:pPr>
            <a:r>
              <a:rPr lang="en-US" b="true" sz="6899">
                <a:solidFill>
                  <a:srgbClr val="050A30">
                    <a:alpha val="37647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581658" y="8422638"/>
            <a:ext cx="16941803" cy="1671323"/>
            <a:chOff x="0" y="0"/>
            <a:chExt cx="22589071" cy="2228431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5398351" cy="2228431"/>
              <a:chOff x="0" y="0"/>
              <a:chExt cx="5398351" cy="2228431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16929" y="16929"/>
              <a:ext cx="5364480" cy="1267968"/>
              <a:chOff x="0" y="0"/>
              <a:chExt cx="5364480" cy="1267968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973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6929" y="1236129"/>
              <a:ext cx="5364480" cy="682752"/>
              <a:chOff x="0" y="0"/>
              <a:chExt cx="5364480" cy="682752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Total Tests</a:t>
                </a: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5730240" y="0"/>
              <a:ext cx="5398351" cy="2228431"/>
              <a:chOff x="0" y="0"/>
              <a:chExt cx="5398351" cy="2228431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62" id="62"/>
            <p:cNvGrpSpPr/>
            <p:nvPr/>
          </p:nvGrpSpPr>
          <p:grpSpPr>
            <a:xfrm rot="0">
              <a:off x="5747169" y="16929"/>
              <a:ext cx="5364480" cy="1267968"/>
              <a:chOff x="0" y="0"/>
              <a:chExt cx="5364480" cy="1267968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973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5747169" y="1236129"/>
              <a:ext cx="5364480" cy="682752"/>
              <a:chOff x="0" y="0"/>
              <a:chExt cx="5364480" cy="682752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Passed</a:t>
                </a: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11460480" y="0"/>
              <a:ext cx="5398351" cy="2228431"/>
              <a:chOff x="0" y="0"/>
              <a:chExt cx="5398351" cy="2228431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70" id="70"/>
            <p:cNvGrpSpPr/>
            <p:nvPr/>
          </p:nvGrpSpPr>
          <p:grpSpPr>
            <a:xfrm rot="0">
              <a:off x="11477409" y="16929"/>
              <a:ext cx="5364480" cy="1267968"/>
              <a:chOff x="0" y="0"/>
              <a:chExt cx="5364480" cy="1267968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973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0</a:t>
                </a: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11477409" y="1236129"/>
              <a:ext cx="5364480" cy="682752"/>
              <a:chOff x="0" y="0"/>
              <a:chExt cx="5364480" cy="682752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Failed</a:t>
                </a: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17190720" y="0"/>
              <a:ext cx="5398351" cy="2228431"/>
              <a:chOff x="0" y="0"/>
              <a:chExt cx="5398351" cy="2228431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5398389" cy="2228469"/>
              </a:xfrm>
              <a:custGeom>
                <a:avLst/>
                <a:gdLst/>
                <a:ahLst/>
                <a:cxnLst/>
                <a:rect r="r" b="b" t="t" l="l"/>
                <a:pathLst>
                  <a:path h="2228469" w="5398389">
                    <a:moveTo>
                      <a:pt x="0" y="0"/>
                    </a:moveTo>
                    <a:lnTo>
                      <a:pt x="5398389" y="0"/>
                    </a:lnTo>
                    <a:lnTo>
                      <a:pt x="5398389" y="2228469"/>
                    </a:lnTo>
                    <a:lnTo>
                      <a:pt x="0" y="2228469"/>
                    </a:lnTo>
                    <a:close/>
                  </a:path>
                </a:pathLst>
              </a:custGeom>
              <a:solidFill>
                <a:srgbClr val="F97316"/>
              </a:solidFill>
              <a:ln w="25400" cap="sq">
                <a:solidFill>
                  <a:srgbClr val="E5E7EB"/>
                </a:solidFill>
                <a:prstDash val="solid"/>
                <a:miter/>
              </a:ln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17207649" y="16929"/>
              <a:ext cx="5364480" cy="1267968"/>
              <a:chOff x="0" y="0"/>
              <a:chExt cx="5364480" cy="1267968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536448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36" r="0" b="-32436"/>
                </a:stretch>
              </a:blipFill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0" y="-76200"/>
                <a:ext cx="5364480" cy="1344168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100%</a:t>
                </a:r>
              </a:p>
            </p:txBody>
          </p:sp>
        </p:grpSp>
        <p:grpSp>
          <p:nvGrpSpPr>
            <p:cNvPr name="Group 81" id="81"/>
            <p:cNvGrpSpPr/>
            <p:nvPr/>
          </p:nvGrpSpPr>
          <p:grpSpPr>
            <a:xfrm rot="0">
              <a:off x="17207649" y="1236129"/>
              <a:ext cx="5364480" cy="682752"/>
              <a:chOff x="0" y="0"/>
              <a:chExt cx="5364480" cy="682752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53644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3096" r="0" b="-103096"/>
                </a:stretch>
              </a:blip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38100"/>
                <a:ext cx="5364480" cy="7208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Accuracy</a:t>
                </a: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44859"/>
            <a:chOff x="0" y="0"/>
            <a:chExt cx="24417871" cy="32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2194560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DELIVERABLES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26464"/>
            <a:ext cx="16459200" cy="512064"/>
            <a:chOff x="0" y="0"/>
            <a:chExt cx="219456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we built and tested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1998983"/>
            <a:ext cx="16484603" cy="25403"/>
            <a:chOff x="0" y="0"/>
            <a:chExt cx="21979471" cy="338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33909"/>
            </a:xfrm>
            <a:custGeom>
              <a:avLst/>
              <a:gdLst/>
              <a:ahLst/>
              <a:cxnLst/>
              <a:rect r="r" b="b" t="t" l="l"/>
              <a:pathLst>
                <a:path h="33909" w="21979510">
                  <a:moveTo>
                    <a:pt x="0" y="0"/>
                  </a:moveTo>
                  <a:lnTo>
                    <a:pt x="21979510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2580060" r="0" b="-12579948"/>
              </a:stretch>
            </a:blip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01703" y="2273303"/>
            <a:ext cx="8346443" cy="2037083"/>
            <a:chOff x="0" y="0"/>
            <a:chExt cx="11128591" cy="27161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28629" cy="2716149"/>
            </a:xfrm>
            <a:custGeom>
              <a:avLst/>
              <a:gdLst/>
              <a:ahLst/>
              <a:cxnLst/>
              <a:rect r="r" b="b" t="t" l="l"/>
              <a:pathLst>
                <a:path h="2716149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F9FAF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231136" y="2468880"/>
            <a:ext cx="6766560" cy="548640"/>
            <a:chOff x="0" y="0"/>
            <a:chExt cx="90220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AUTOMATION FRAMEWORK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231136" y="3017520"/>
            <a:ext cx="6766560" cy="1097280"/>
            <a:chOff x="0" y="0"/>
            <a:chExt cx="902208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22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57" r="0" b="-7015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0220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Selenium WebDriver + PyTest + Behave BDD with Page Object Model (POM) architecture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79943" y="2273303"/>
            <a:ext cx="8346443" cy="2037083"/>
            <a:chOff x="0" y="0"/>
            <a:chExt cx="11128591" cy="27161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128629" cy="2716149"/>
            </a:xfrm>
            <a:custGeom>
              <a:avLst/>
              <a:gdLst/>
              <a:ahLst/>
              <a:cxnLst/>
              <a:rect r="r" b="b" t="t" l="l"/>
              <a:pathLst>
                <a:path h="2716149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F9FAF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009376" y="2567311"/>
            <a:ext cx="6766560" cy="548640"/>
            <a:chOff x="0" y="0"/>
            <a:chExt cx="902208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COVERAGE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009376" y="3017520"/>
            <a:ext cx="6766560" cy="1097280"/>
            <a:chOff x="0" y="0"/>
            <a:chExt cx="902208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22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57" r="0" b="-7015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0220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End-to-End, Positive &amp; Negative test cases across all team modules (100% pass rate)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01703" y="4650743"/>
            <a:ext cx="8346443" cy="2037083"/>
            <a:chOff x="0" y="0"/>
            <a:chExt cx="11128591" cy="271611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128629" cy="2716149"/>
            </a:xfrm>
            <a:custGeom>
              <a:avLst/>
              <a:gdLst/>
              <a:ahLst/>
              <a:cxnLst/>
              <a:rect r="r" b="b" t="t" l="l"/>
              <a:pathLst>
                <a:path h="2716149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F9FAF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2231136" y="4846320"/>
            <a:ext cx="6766560" cy="548640"/>
            <a:chOff x="0" y="0"/>
            <a:chExt cx="902208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ALLURE REPORTS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231136" y="5394960"/>
            <a:ext cx="6766560" cy="1097280"/>
            <a:chOff x="0" y="0"/>
            <a:chExt cx="9022080" cy="1463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022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57" r="0" b="-7015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0220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Professional HTML reports with step-by-step execution flow, screenshots &amp; history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79943" y="4650743"/>
            <a:ext cx="8346443" cy="2037083"/>
            <a:chOff x="0" y="0"/>
            <a:chExt cx="11128591" cy="271611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128629" cy="2716149"/>
            </a:xfrm>
            <a:custGeom>
              <a:avLst/>
              <a:gdLst/>
              <a:ahLst/>
              <a:cxnLst/>
              <a:rect r="r" b="b" t="t" l="l"/>
              <a:pathLst>
                <a:path h="2716149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F9FAF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009376" y="4846320"/>
            <a:ext cx="6766560" cy="548640"/>
            <a:chOff x="0" y="0"/>
            <a:chExt cx="902208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SCREENSHOT EVIDENCE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009376" y="5394960"/>
            <a:ext cx="6766560" cy="1097280"/>
            <a:chOff x="0" y="0"/>
            <a:chExt cx="902208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022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57" r="0" b="-7015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0220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 screenshot capture at each key execution stage for audit &amp; debugging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01703" y="7028183"/>
            <a:ext cx="8346443" cy="2037083"/>
            <a:chOff x="0" y="0"/>
            <a:chExt cx="11128591" cy="27161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128629" cy="2716149"/>
            </a:xfrm>
            <a:custGeom>
              <a:avLst/>
              <a:gdLst/>
              <a:ahLst/>
              <a:cxnLst/>
              <a:rect r="r" b="b" t="t" l="l"/>
              <a:pathLst>
                <a:path h="2716149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F9FAF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231136" y="7223760"/>
            <a:ext cx="6766560" cy="548640"/>
            <a:chOff x="0" y="0"/>
            <a:chExt cx="902208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EXECUTION LOGS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79943" y="7028183"/>
            <a:ext cx="8346443" cy="2037083"/>
            <a:chOff x="0" y="0"/>
            <a:chExt cx="11128591" cy="271611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128629" cy="2716149"/>
            </a:xfrm>
            <a:custGeom>
              <a:avLst/>
              <a:gdLst/>
              <a:ahLst/>
              <a:cxnLst/>
              <a:rect r="r" b="b" t="t" l="l"/>
              <a:pathLst>
                <a:path h="2716149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F9FAF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1009376" y="7223760"/>
            <a:ext cx="6766560" cy="548640"/>
            <a:chOff x="0" y="0"/>
            <a:chExt cx="902208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</a:t>
              </a:r>
              <a:r>
                <a:rPr lang="en-US" b="true" sz="220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UB REPOSITORY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009376" y="7772400"/>
            <a:ext cx="6766560" cy="1097280"/>
            <a:chOff x="0" y="0"/>
            <a:chExt cx="9022080" cy="14630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022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57" r="0" b="-7015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90220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</a:t>
              </a: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ull codebase with README, feature files, page objects, and data files version-controlled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10040337" y="2988014"/>
            <a:ext cx="749358" cy="607662"/>
          </a:xfrm>
          <a:custGeom>
            <a:avLst/>
            <a:gdLst/>
            <a:ahLst/>
            <a:cxnLst/>
            <a:rect r="r" b="b" t="t" l="l"/>
            <a:pathLst>
              <a:path h="607662" w="749358">
                <a:moveTo>
                  <a:pt x="0" y="0"/>
                </a:moveTo>
                <a:lnTo>
                  <a:pt x="749358" y="0"/>
                </a:lnTo>
                <a:lnTo>
                  <a:pt x="749358" y="607662"/>
                </a:lnTo>
                <a:lnTo>
                  <a:pt x="0" y="6076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340013" y="3002767"/>
            <a:ext cx="593526" cy="578156"/>
          </a:xfrm>
          <a:custGeom>
            <a:avLst/>
            <a:gdLst/>
            <a:ahLst/>
            <a:cxnLst/>
            <a:rect r="r" b="b" t="t" l="l"/>
            <a:pathLst>
              <a:path h="578156" w="593526">
                <a:moveTo>
                  <a:pt x="0" y="0"/>
                </a:moveTo>
                <a:lnTo>
                  <a:pt x="593526" y="0"/>
                </a:lnTo>
                <a:lnTo>
                  <a:pt x="593526" y="578156"/>
                </a:lnTo>
                <a:lnTo>
                  <a:pt x="0" y="5781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0127745" y="5120011"/>
            <a:ext cx="574541" cy="963408"/>
          </a:xfrm>
          <a:custGeom>
            <a:avLst/>
            <a:gdLst/>
            <a:ahLst/>
            <a:cxnLst/>
            <a:rect r="r" b="b" t="t" l="l"/>
            <a:pathLst>
              <a:path h="963408" w="574541">
                <a:moveTo>
                  <a:pt x="0" y="0"/>
                </a:moveTo>
                <a:lnTo>
                  <a:pt x="574542" y="0"/>
                </a:lnTo>
                <a:lnTo>
                  <a:pt x="574542" y="963408"/>
                </a:lnTo>
                <a:lnTo>
                  <a:pt x="0" y="963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397487" y="7738507"/>
            <a:ext cx="478579" cy="616436"/>
          </a:xfrm>
          <a:custGeom>
            <a:avLst/>
            <a:gdLst/>
            <a:ahLst/>
            <a:cxnLst/>
            <a:rect r="r" b="b" t="t" l="l"/>
            <a:pathLst>
              <a:path h="616436" w="478579">
                <a:moveTo>
                  <a:pt x="0" y="0"/>
                </a:moveTo>
                <a:lnTo>
                  <a:pt x="478578" y="0"/>
                </a:lnTo>
                <a:lnTo>
                  <a:pt x="478578" y="616436"/>
                </a:lnTo>
                <a:lnTo>
                  <a:pt x="0" y="6164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0015334" y="7649851"/>
            <a:ext cx="774362" cy="774362"/>
          </a:xfrm>
          <a:custGeom>
            <a:avLst/>
            <a:gdLst/>
            <a:ahLst/>
            <a:cxnLst/>
            <a:rect r="r" b="b" t="t" l="l"/>
            <a:pathLst>
              <a:path h="774362" w="774362">
                <a:moveTo>
                  <a:pt x="0" y="0"/>
                </a:moveTo>
                <a:lnTo>
                  <a:pt x="774361" y="0"/>
                </a:lnTo>
                <a:lnTo>
                  <a:pt x="774361" y="774362"/>
                </a:lnTo>
                <a:lnTo>
                  <a:pt x="0" y="7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340013" y="5143500"/>
            <a:ext cx="593526" cy="671685"/>
          </a:xfrm>
          <a:custGeom>
            <a:avLst/>
            <a:gdLst/>
            <a:ahLst/>
            <a:cxnLst/>
            <a:rect r="r" b="b" t="t" l="l"/>
            <a:pathLst>
              <a:path h="671685" w="593526">
                <a:moveTo>
                  <a:pt x="0" y="0"/>
                </a:moveTo>
                <a:lnTo>
                  <a:pt x="593526" y="0"/>
                </a:lnTo>
                <a:lnTo>
                  <a:pt x="593526" y="671685"/>
                </a:lnTo>
                <a:lnTo>
                  <a:pt x="0" y="6716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2231136" y="7649851"/>
            <a:ext cx="6766560" cy="1097280"/>
            <a:chOff x="0" y="0"/>
            <a:chExt cx="9022080" cy="14630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022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57" r="0" b="-7015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90220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etailed Python logging for execution tracking and failure diagnosis, the log reports were made.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5943" y="535943"/>
            <a:ext cx="208283" cy="208283"/>
            <a:chOff x="0" y="0"/>
            <a:chExt cx="27771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76023" y="535943"/>
            <a:ext cx="208283" cy="208283"/>
            <a:chOff x="0" y="0"/>
            <a:chExt cx="277711" cy="2777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816103" y="535943"/>
            <a:ext cx="208283" cy="208283"/>
            <a:chOff x="0" y="0"/>
            <a:chExt cx="277711" cy="2777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2456183" y="535943"/>
            <a:ext cx="208283" cy="208283"/>
            <a:chOff x="0" y="0"/>
            <a:chExt cx="277711" cy="2777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096263" y="535943"/>
            <a:ext cx="208283" cy="208283"/>
            <a:chOff x="0" y="0"/>
            <a:chExt cx="277711" cy="2777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736343" y="535943"/>
            <a:ext cx="208283" cy="208283"/>
            <a:chOff x="0" y="0"/>
            <a:chExt cx="277711" cy="2777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176023"/>
            <a:ext cx="208283" cy="208283"/>
            <a:chOff x="0" y="0"/>
            <a:chExt cx="277711" cy="2777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76023" y="1176023"/>
            <a:ext cx="208283" cy="208283"/>
            <a:chOff x="0" y="0"/>
            <a:chExt cx="277711" cy="2777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816103" y="1176023"/>
            <a:ext cx="208283" cy="208283"/>
            <a:chOff x="0" y="0"/>
            <a:chExt cx="277711" cy="2777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2456183" y="1176023"/>
            <a:ext cx="208283" cy="208283"/>
            <a:chOff x="0" y="0"/>
            <a:chExt cx="277711" cy="2777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3096263" y="1176023"/>
            <a:ext cx="208283" cy="208283"/>
            <a:chOff x="0" y="0"/>
            <a:chExt cx="277711" cy="2777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736343" y="1176023"/>
            <a:ext cx="208283" cy="208283"/>
            <a:chOff x="0" y="0"/>
            <a:chExt cx="277711" cy="2777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35943" y="1816103"/>
            <a:ext cx="208283" cy="208283"/>
            <a:chOff x="0" y="0"/>
            <a:chExt cx="277711" cy="2777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76023" y="1816103"/>
            <a:ext cx="208283" cy="208283"/>
            <a:chOff x="0" y="0"/>
            <a:chExt cx="277711" cy="27771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816103" y="1816103"/>
            <a:ext cx="208283" cy="208283"/>
            <a:chOff x="0" y="0"/>
            <a:chExt cx="277711" cy="2777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2456183" y="1816103"/>
            <a:ext cx="208283" cy="208283"/>
            <a:chOff x="0" y="0"/>
            <a:chExt cx="277711" cy="2777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3096263" y="1816103"/>
            <a:ext cx="208283" cy="208283"/>
            <a:chOff x="0" y="0"/>
            <a:chExt cx="277711" cy="2777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3736343" y="1816103"/>
            <a:ext cx="208283" cy="208283"/>
            <a:chOff x="0" y="0"/>
            <a:chExt cx="277711" cy="27771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535943" y="2456183"/>
            <a:ext cx="208283" cy="208283"/>
            <a:chOff x="0" y="0"/>
            <a:chExt cx="277711" cy="2777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76023" y="2456183"/>
            <a:ext cx="208283" cy="208283"/>
            <a:chOff x="0" y="0"/>
            <a:chExt cx="277711" cy="2777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816103" y="2456183"/>
            <a:ext cx="208283" cy="208283"/>
            <a:chOff x="0" y="0"/>
            <a:chExt cx="277711" cy="27771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2456183" y="2456183"/>
            <a:ext cx="208283" cy="208283"/>
            <a:chOff x="0" y="0"/>
            <a:chExt cx="277711" cy="2777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3096263" y="2456183"/>
            <a:ext cx="208283" cy="208283"/>
            <a:chOff x="0" y="0"/>
            <a:chExt cx="277711" cy="27771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3736343" y="2456183"/>
            <a:ext cx="208283" cy="208283"/>
            <a:chOff x="0" y="0"/>
            <a:chExt cx="277711" cy="27771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535943" y="3096263"/>
            <a:ext cx="208283" cy="208283"/>
            <a:chOff x="0" y="0"/>
            <a:chExt cx="277711" cy="2777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176023" y="3096263"/>
            <a:ext cx="208283" cy="208283"/>
            <a:chOff x="0" y="0"/>
            <a:chExt cx="277711" cy="27771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816103" y="3096263"/>
            <a:ext cx="208283" cy="208283"/>
            <a:chOff x="0" y="0"/>
            <a:chExt cx="277711" cy="27771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2456183" y="3096263"/>
            <a:ext cx="208283" cy="208283"/>
            <a:chOff x="0" y="0"/>
            <a:chExt cx="277711" cy="2777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3096263" y="3096263"/>
            <a:ext cx="208283" cy="208283"/>
            <a:chOff x="0" y="0"/>
            <a:chExt cx="277711" cy="27771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3736343" y="3096263"/>
            <a:ext cx="208283" cy="208283"/>
            <a:chOff x="0" y="0"/>
            <a:chExt cx="277711" cy="27771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535943" y="3736343"/>
            <a:ext cx="208283" cy="208283"/>
            <a:chOff x="0" y="0"/>
            <a:chExt cx="277711" cy="2777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176023" y="3736343"/>
            <a:ext cx="208283" cy="208283"/>
            <a:chOff x="0" y="0"/>
            <a:chExt cx="277711" cy="27771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816103" y="3736343"/>
            <a:ext cx="208283" cy="208283"/>
            <a:chOff x="0" y="0"/>
            <a:chExt cx="277711" cy="27771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2456183" y="3736343"/>
            <a:ext cx="208283" cy="208283"/>
            <a:chOff x="0" y="0"/>
            <a:chExt cx="277711" cy="27771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3096263" y="3736343"/>
            <a:ext cx="208283" cy="208283"/>
            <a:chOff x="0" y="0"/>
            <a:chExt cx="277711" cy="27771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3736343" y="3736343"/>
            <a:ext cx="208283" cy="208283"/>
            <a:chOff x="0" y="0"/>
            <a:chExt cx="277711" cy="27771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3977623" y="6022343"/>
            <a:ext cx="208283" cy="208283"/>
            <a:chOff x="0" y="0"/>
            <a:chExt cx="277711" cy="2777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4617703" y="6022343"/>
            <a:ext cx="208283" cy="208283"/>
            <a:chOff x="0" y="0"/>
            <a:chExt cx="277711" cy="27771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5257783" y="6022343"/>
            <a:ext cx="208283" cy="208283"/>
            <a:chOff x="0" y="0"/>
            <a:chExt cx="277711" cy="27771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5897863" y="6022343"/>
            <a:ext cx="208283" cy="208283"/>
            <a:chOff x="0" y="0"/>
            <a:chExt cx="277711" cy="27771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6537943" y="6022343"/>
            <a:ext cx="208283" cy="208283"/>
            <a:chOff x="0" y="0"/>
            <a:chExt cx="277711" cy="27771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7178023" y="6022343"/>
            <a:ext cx="208283" cy="208283"/>
            <a:chOff x="0" y="0"/>
            <a:chExt cx="277711" cy="27771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3977623" y="6662423"/>
            <a:ext cx="208283" cy="208283"/>
            <a:chOff x="0" y="0"/>
            <a:chExt cx="277711" cy="27771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4617703" y="6662423"/>
            <a:ext cx="208283" cy="208283"/>
            <a:chOff x="0" y="0"/>
            <a:chExt cx="277711" cy="27771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5257783" y="6662423"/>
            <a:ext cx="208283" cy="208283"/>
            <a:chOff x="0" y="0"/>
            <a:chExt cx="277711" cy="27771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5897863" y="6662423"/>
            <a:ext cx="208283" cy="208283"/>
            <a:chOff x="0" y="0"/>
            <a:chExt cx="277711" cy="27771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6537943" y="6662423"/>
            <a:ext cx="208283" cy="208283"/>
            <a:chOff x="0" y="0"/>
            <a:chExt cx="277711" cy="27771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7178023" y="6662423"/>
            <a:ext cx="208283" cy="208283"/>
            <a:chOff x="0" y="0"/>
            <a:chExt cx="277711" cy="27771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3977623" y="7302503"/>
            <a:ext cx="208283" cy="208283"/>
            <a:chOff x="0" y="0"/>
            <a:chExt cx="277711" cy="27771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4617703" y="7302503"/>
            <a:ext cx="208283" cy="208283"/>
            <a:chOff x="0" y="0"/>
            <a:chExt cx="277711" cy="27771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5257783" y="7302503"/>
            <a:ext cx="208283" cy="208283"/>
            <a:chOff x="0" y="0"/>
            <a:chExt cx="277711" cy="27771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15897863" y="7302503"/>
            <a:ext cx="208283" cy="208283"/>
            <a:chOff x="0" y="0"/>
            <a:chExt cx="277711" cy="27771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6537943" y="7302503"/>
            <a:ext cx="208283" cy="208283"/>
            <a:chOff x="0" y="0"/>
            <a:chExt cx="277711" cy="27771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17178023" y="7302503"/>
            <a:ext cx="208283" cy="208283"/>
            <a:chOff x="0" y="0"/>
            <a:chExt cx="277711" cy="27771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977623" y="7942583"/>
            <a:ext cx="208283" cy="208283"/>
            <a:chOff x="0" y="0"/>
            <a:chExt cx="277711" cy="27771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14617703" y="7942583"/>
            <a:ext cx="208283" cy="208283"/>
            <a:chOff x="0" y="0"/>
            <a:chExt cx="277711" cy="277711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15257783" y="7942583"/>
            <a:ext cx="208283" cy="208283"/>
            <a:chOff x="0" y="0"/>
            <a:chExt cx="277711" cy="277711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15897863" y="7942583"/>
            <a:ext cx="208283" cy="208283"/>
            <a:chOff x="0" y="0"/>
            <a:chExt cx="277711" cy="27771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16537943" y="7942583"/>
            <a:ext cx="208283" cy="208283"/>
            <a:chOff x="0" y="0"/>
            <a:chExt cx="277711" cy="277711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17178023" y="7942583"/>
            <a:ext cx="208283" cy="208283"/>
            <a:chOff x="0" y="0"/>
            <a:chExt cx="277711" cy="277711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13977623" y="8582663"/>
            <a:ext cx="208283" cy="208283"/>
            <a:chOff x="0" y="0"/>
            <a:chExt cx="277711" cy="27771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14617703" y="8582663"/>
            <a:ext cx="208283" cy="208283"/>
            <a:chOff x="0" y="0"/>
            <a:chExt cx="277711" cy="277711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15257783" y="8582663"/>
            <a:ext cx="208283" cy="208283"/>
            <a:chOff x="0" y="0"/>
            <a:chExt cx="277711" cy="277711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28" id="128"/>
          <p:cNvGrpSpPr/>
          <p:nvPr/>
        </p:nvGrpSpPr>
        <p:grpSpPr>
          <a:xfrm rot="0">
            <a:off x="15897863" y="8582663"/>
            <a:ext cx="208283" cy="208283"/>
            <a:chOff x="0" y="0"/>
            <a:chExt cx="277711" cy="27771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16537943" y="8582663"/>
            <a:ext cx="208283" cy="208283"/>
            <a:chOff x="0" y="0"/>
            <a:chExt cx="277711" cy="277711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32" id="132"/>
          <p:cNvGrpSpPr/>
          <p:nvPr/>
        </p:nvGrpSpPr>
        <p:grpSpPr>
          <a:xfrm rot="0">
            <a:off x="17178023" y="8582663"/>
            <a:ext cx="208283" cy="208283"/>
            <a:chOff x="0" y="0"/>
            <a:chExt cx="277711" cy="277711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34" id="134"/>
          <p:cNvGrpSpPr/>
          <p:nvPr/>
        </p:nvGrpSpPr>
        <p:grpSpPr>
          <a:xfrm rot="0">
            <a:off x="13977623" y="9222743"/>
            <a:ext cx="208283" cy="208283"/>
            <a:chOff x="0" y="0"/>
            <a:chExt cx="277711" cy="27771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36" id="136"/>
          <p:cNvGrpSpPr/>
          <p:nvPr/>
        </p:nvGrpSpPr>
        <p:grpSpPr>
          <a:xfrm rot="0">
            <a:off x="14617703" y="9222743"/>
            <a:ext cx="208283" cy="208283"/>
            <a:chOff x="0" y="0"/>
            <a:chExt cx="277711" cy="277711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38" id="138"/>
          <p:cNvGrpSpPr/>
          <p:nvPr/>
        </p:nvGrpSpPr>
        <p:grpSpPr>
          <a:xfrm rot="0">
            <a:off x="15257783" y="9222743"/>
            <a:ext cx="208283" cy="208283"/>
            <a:chOff x="0" y="0"/>
            <a:chExt cx="277711" cy="277711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40" id="140"/>
          <p:cNvGrpSpPr/>
          <p:nvPr/>
        </p:nvGrpSpPr>
        <p:grpSpPr>
          <a:xfrm rot="0">
            <a:off x="15897863" y="9222743"/>
            <a:ext cx="208283" cy="208283"/>
            <a:chOff x="0" y="0"/>
            <a:chExt cx="277711" cy="277711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42" id="142"/>
          <p:cNvGrpSpPr/>
          <p:nvPr/>
        </p:nvGrpSpPr>
        <p:grpSpPr>
          <a:xfrm rot="0">
            <a:off x="16537943" y="9222743"/>
            <a:ext cx="208283" cy="208283"/>
            <a:chOff x="0" y="0"/>
            <a:chExt cx="277711" cy="277711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44" id="144"/>
          <p:cNvGrpSpPr/>
          <p:nvPr/>
        </p:nvGrpSpPr>
        <p:grpSpPr>
          <a:xfrm rot="0">
            <a:off x="17178023" y="9222743"/>
            <a:ext cx="208283" cy="208283"/>
            <a:chOff x="0" y="0"/>
            <a:chExt cx="277711" cy="277711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77749" cy="277622"/>
            </a:xfrm>
            <a:custGeom>
              <a:avLst/>
              <a:gdLst/>
              <a:ahLst/>
              <a:cxnLst/>
              <a:rect r="r" b="b" t="t" l="l"/>
              <a:pathLst>
                <a:path h="277622" w="277749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cubicBezTo>
                    <a:pt x="215392" y="0"/>
                    <a:pt x="277749" y="62230"/>
                    <a:pt x="277749" y="138811"/>
                  </a:cubicBezTo>
                  <a:cubicBezTo>
                    <a:pt x="277749" y="215392"/>
                    <a:pt x="215519" y="277622"/>
                    <a:pt x="138938" y="277622"/>
                  </a:cubicBezTo>
                  <a:cubicBezTo>
                    <a:pt x="62357" y="277622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2D2D2D"/>
            </a:solidFill>
            <a:ln w="25400" cap="sq">
              <a:solidFill>
                <a:srgbClr val="2D2D2D"/>
              </a:solidFill>
              <a:prstDash val="solid"/>
              <a:miter/>
            </a:ln>
          </p:spPr>
        </p:sp>
      </p:grpSp>
      <p:grpSp>
        <p:nvGrpSpPr>
          <p:cNvPr name="Group 146" id="146"/>
          <p:cNvGrpSpPr/>
          <p:nvPr/>
        </p:nvGrpSpPr>
        <p:grpSpPr>
          <a:xfrm rot="0">
            <a:off x="-12697" y="8765543"/>
            <a:ext cx="18313403" cy="1534163"/>
            <a:chOff x="0" y="0"/>
            <a:chExt cx="24417871" cy="2045551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4417910" cy="2045589"/>
            </a:xfrm>
            <a:custGeom>
              <a:avLst/>
              <a:gdLst/>
              <a:ahLst/>
              <a:cxnLst/>
              <a:rect r="r" b="b" t="t" l="l"/>
              <a:pathLst>
                <a:path h="204558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045589"/>
                  </a:lnTo>
                  <a:lnTo>
                    <a:pt x="0" y="2045589"/>
                  </a:ln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148" id="148"/>
          <p:cNvGrpSpPr/>
          <p:nvPr/>
        </p:nvGrpSpPr>
        <p:grpSpPr>
          <a:xfrm rot="0">
            <a:off x="914400" y="1920240"/>
            <a:ext cx="16459200" cy="2560320"/>
            <a:chOff x="0" y="0"/>
            <a:chExt cx="21945600" cy="341376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19456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276225"/>
              <a:ext cx="21945600" cy="3689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319"/>
                </a:lnSpc>
              </a:pPr>
              <a:r>
                <a:rPr lang="en-US" b="true" sz="13600" spc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914400" y="4663440"/>
            <a:ext cx="16459200" cy="731520"/>
            <a:chOff x="0" y="0"/>
            <a:chExt cx="21945600" cy="97536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Wipro Capstone Project  •  Ixigo Automation Testing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914400" y="5577840"/>
            <a:ext cx="16459200" cy="640080"/>
            <a:chOff x="0" y="0"/>
            <a:chExt cx="21945600" cy="85344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Sindhu  •  Hariharan M  •  Pratiksha  •  Himanshu Gupta  •  Trisha  •  Pramithi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914400" y="8906256"/>
            <a:ext cx="16459200" cy="768096"/>
            <a:chOff x="0" y="0"/>
            <a:chExt cx="21945600" cy="1024128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19456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38100"/>
              <a:ext cx="219456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Domain: Travel &amp; Booking  |  Platform: Ixigo  |  Organization: Wipro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DAHKlWwB6SM</dc:identifier>
  <dcterms:modified xsi:type="dcterms:W3CDTF">2011-08-01T06:04:30Z</dcterms:modified>
  <cp:revision>1</cp:revision>
  <dc:title>Wipro_Capstone_Project_Presentation.pptx</dc:title>
</cp:coreProperties>
</file>